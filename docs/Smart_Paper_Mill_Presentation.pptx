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I'm presenting my industrial training project, the Smart Paper Mill Production Monitoring Dashboard, developed in the context of Satia Industries Limited - a wheat-straw based writing and printing paper manufacturer. All data shown is fictional but industry-realistic; no confidential company data is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flow: I'll start with the company and the problem, cover objectives and scope, then walk through the technology, architecture and database. After that the modules and the real-time and analytics features, and finally testing, results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Satia is one of India's larger eco-friendly paper makers, using wheat straw instead of felling trees. Paper-making is a continuous process across several stages and runs 24x7 in three shifts, so managers need a single, live view of what every machine is doing. I want to stress that all the data in the system is fictional but realistic.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that today the data lives on paper and in spreadsheets. There's no single live picture, problems are caught late, and computing KPIs or generating reports is slow and manual. That's the gap this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objectives follow directly from the problem: one centralised role-based dashboard; capture of output, quality and downtime that actually persists; live status and automatic alerts; OEE and exportable reports; and proper security - all while staying lightweight enough to run on a normal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the project achievable, the scope is the full software stack with four roles and nine modules. The one honest simplification is that real plant sensors are simulated by a server stream - I don't have access to the mill's control hardware. Deeper integrations are listed as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deliberately free, open-source and lightweight. A vanilla HTML/CSS/JS front-end with Chart.js, a Flask back-end that serves both the API and the pages same-origin, SQLite for persistence, bcrypt and JWT for security, and Server-Sent Events for the live feed - chosen over Socket.IO because it needs no extra dependencies. Everything runs on a normal laptop.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it's a clean three-tier design. The browser runs the pages and charts; a single Flask application serves both the static front-end and the REST API on the same origin and also pushes the live SSE stream; and SQLite holds all persisted data. Same-origin serving keeps authentication and deployment simple.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centres on production records, with supporting tables for users, machines, maintenance logs, downtime events, configurable thresholds and an activity/audit log. Production records carry the quality fields - GSM, moisture and speed - alongside output, grade and shift.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is role-based with four roles. Security rests on three pillars: bcrypt-hashed passwords, stateless JWT tokens, and role-required checks on every protected API endpoint. Sensitive actions are written to an audit log. So an operator can enter readings but cannot, for example, manage users - that's enforced on the server, not just hidden in the 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Functionally there are nine modules. The dashboard is the landing view with KPIs and charts. Production captures output and the three quality parameters. Machines is a live colour-coded status board. Maintenance and downtime track jobs and stoppages. And reports, alerts, settings and the admin panel round it out - including CSV/PDF export, dark mode and full admin control.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flagship feature is real-time monitoring. The Flask server streams live machine readings using Server-Sent Events on an authenticated channel, so machine cards and the dashboard update every few seconds with no page reload. I also wired the dashboard KPIs, the daily report and the alerts to read live from the API - so if you enter a record it shows up immediately - with a graceful fallback to seeded data when offline.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analytics side, each record stores GSM, moisture and speed, checked against limits that the admin can edit. OEE - availability times performance times quality - is computed and charted per machine. And the alerts page derives warnings live by comparing the actual data against those thresholds, so an out-of-spec sheet or an over-long stoppage raises an alert you can acknowledge.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dashboard - the landing screen. Six KPI cards including average OEE, a production-trend line chart against target, a machine-status doughnut, quick actions and a recent-production table. The KPIs and charts read live from the API, so they reflect data entered through the app.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machine-monitoring page is a colour-coded status board. Summary chips at the top, search and status filters - including the Stopped state - and a card per machine showing temperature, running hours, capacity and an efficiency bar. Temperature and efficiency update live via the server stream.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page turns the raw data into analytics: summary KPIs, a daily-production chart that reads live from the API, a downtime-by-reason breakdown, weekly and monthly views and OEE by machine - all filterable by period, machine and shift, and exportable to CSV or PDF.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the production-entry screen captures output plus the quality parameters - GSM, moisture and speed - which are validated against the configured limits. On the right, the alerts page, which raises threshold-driven warnings for out-of-spec quality and excessive downtime that a supervisor can filter by severity and acknowledge.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was delivered in phases - starting with requirements and design, then building the modules, then the real back-end with authentication and persistence, and finally testing, documentation and deployment. This Gantt chart summarises that schedule.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 backed by 94 automated tests in pytest - 36 in the core API suite and 58 in a role-workflow suite - each running against an isolated temporary database. They cover authentication, role-based access, full CRUD on production, maintenance and downtime, the quality fields and thresholds, the live stream and the audit log. All 94 pass.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is a complete, working application - not a mock-up. Real login and roles, data that persists across restarts, live telemetry, a consistent demo dataset, 94 passing tests, full documentation including an SRS, report and user manuals, and it's ready to deploy free on Render.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challenges were simulating live data without plant hardware - solved with SSE - and keeping a large set of documents consistent with evolving code, which I handled with a single canonical dataset and generator scripts. I also learned a lot about practical security and about designing within real hardware constraints. Overall it was genuine full-stack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the natural next steps are connecting real sensors through PLC or IoT gateways, moving to a production database, adding predictive maintenance with machine learning, a mobile app with push and SMS alerts, and scaling from one mill to multiple plants.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project replaces manual logbooks with a secure, real-time, role-based dashboard - a complete, tested and documented full-stack system built with free tools, and a solid foundation for a fully sensor-connected solution. Thank you.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concludes the presentation. Thank you - I'm happy to take any questions, and I can demonstrate the running application live: logging in as different roles, entering a production record and watching the dashboard, reports and alerts update in real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92624"/>
            <a:ext cx="12191695" cy="3657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868680"/>
            <a:ext cx="10058400" cy="365760"/>
          </a:xfrm>
          <a:prstGeom prst="rect">
            <a:avLst/>
          </a:prstGeom>
          <a:noFill/>
        </p:spPr>
        <p:txBody>
          <a:bodyPr wrap="square" anchor="t" lIns="0" rIns="0" tIns="0" bIns="0">
            <a:spAutoFit/>
          </a:bodyPr>
          <a:lstStyle/>
          <a:p>
            <a:pPr algn="l">
              <a:spcBef>
                <a:spcPts val="0"/>
              </a:spcBef>
              <a:spcAft>
                <a:spcPts val="0"/>
              </a:spcAft>
              <a:buNone/>
            </a:pPr>
            <a:r>
              <a:rPr sz="1400" b="1" i="0">
                <a:solidFill>
                  <a:srgbClr val="38BDF8"/>
                </a:solidFill>
                <a:latin typeface="Calibri"/>
              </a:rPr>
              <a:t>INDUSTRIAL TRAINING PROJECT  -  2026</a:t>
            </a:r>
          </a:p>
        </p:txBody>
      </p:sp>
      <p:sp>
        <p:nvSpPr>
          <p:cNvPr id="6" name="TextBox 5"/>
          <p:cNvSpPr txBox="1"/>
          <p:nvPr/>
        </p:nvSpPr>
        <p:spPr>
          <a:xfrm>
            <a:off x="822960" y="1417320"/>
            <a:ext cx="10607040" cy="2011680"/>
          </a:xfrm>
          <a:prstGeom prst="rect">
            <a:avLst/>
          </a:prstGeom>
          <a:noFill/>
        </p:spPr>
        <p:txBody>
          <a:bodyPr wrap="square" anchor="t" lIns="0" rIns="0" tIns="0" bIns="0">
            <a:spAutoFit/>
          </a:bodyPr>
          <a:lstStyle/>
          <a:p>
            <a:pPr algn="l">
              <a:spcBef>
                <a:spcPts val="0"/>
              </a:spcBef>
              <a:spcAft>
                <a:spcPts val="200"/>
              </a:spcAft>
              <a:buNone/>
            </a:pPr>
            <a:r>
              <a:rPr sz="4800" b="1" i="0">
                <a:solidFill>
                  <a:srgbClr val="FFFFFF"/>
                </a:solidFill>
                <a:latin typeface="Calibri"/>
              </a:rPr>
              <a:t>Smart Paper Mill</a:t>
            </a:r>
          </a:p>
          <a:p>
            <a:pPr algn="l">
              <a:spcBef>
                <a:spcPts val="0"/>
              </a:spcBef>
              <a:spcAft>
                <a:spcPts val="0"/>
              </a:spcAft>
              <a:buNone/>
            </a:pPr>
            <a:r>
              <a:rPr sz="4000" b="1" i="0">
                <a:solidFill>
                  <a:srgbClr val="FFFFFF"/>
                </a:solidFill>
                <a:latin typeface="Calibri"/>
              </a:rPr>
              <a:t>Production Monitoring Dashboard</a:t>
            </a:r>
          </a:p>
        </p:txBody>
      </p:sp>
      <p:sp>
        <p:nvSpPr>
          <p:cNvPr id="7" name="Rectangle 6"/>
          <p:cNvSpPr/>
          <p:nvPr/>
        </p:nvSpPr>
        <p:spPr>
          <a:xfrm>
            <a:off x="868680" y="3611880"/>
            <a:ext cx="2011680" cy="5486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840480"/>
            <a:ext cx="10424160" cy="1005840"/>
          </a:xfrm>
          <a:prstGeom prst="rect">
            <a:avLst/>
          </a:prstGeom>
          <a:noFill/>
        </p:spPr>
        <p:txBody>
          <a:bodyPr wrap="square" anchor="t" lIns="0" rIns="0" tIns="0" bIns="0">
            <a:spAutoFit/>
          </a:bodyPr>
          <a:lstStyle/>
          <a:p>
            <a:pPr algn="l">
              <a:spcBef>
                <a:spcPts val="0"/>
              </a:spcBef>
              <a:spcAft>
                <a:spcPts val="200"/>
              </a:spcAft>
              <a:buNone/>
            </a:pPr>
            <a:r>
              <a:rPr sz="1800" b="0" i="0">
                <a:solidFill>
                  <a:srgbClr val="CBD5E1"/>
                </a:solidFill>
                <a:latin typeface="Calibri"/>
              </a:rPr>
              <a:t>A real-time, role-based web dashboard for monitoring paper production</a:t>
            </a:r>
          </a:p>
          <a:p>
            <a:pPr algn="l">
              <a:spcBef>
                <a:spcPts val="0"/>
              </a:spcBef>
              <a:spcAft>
                <a:spcPts val="0"/>
              </a:spcAft>
              <a:buNone/>
            </a:pPr>
            <a:r>
              <a:rPr sz="1600" b="0" i="0">
                <a:solidFill>
                  <a:srgbClr val="9FB3C8"/>
                </a:solidFill>
                <a:latin typeface="Calibri"/>
              </a:rPr>
              <a:t>Industrial training carried out at  SATIA INDUSTRIES LIMITED</a:t>
            </a:r>
          </a:p>
        </p:txBody>
      </p:sp>
      <p:sp>
        <p:nvSpPr>
          <p:cNvPr id="9" name="TextBox 8"/>
          <p:cNvSpPr txBox="1"/>
          <p:nvPr/>
        </p:nvSpPr>
        <p:spPr>
          <a:xfrm>
            <a:off x="868680" y="5212080"/>
            <a:ext cx="7772400" cy="1463040"/>
          </a:xfrm>
          <a:prstGeom prst="rect">
            <a:avLst/>
          </a:prstGeom>
          <a:noFill/>
        </p:spPr>
        <p:txBody>
          <a:bodyPr wrap="square" anchor="t" lIns="0" rIns="0" tIns="0" bIns="0">
            <a:spAutoFit/>
          </a:bodyPr>
          <a:lstStyle/>
          <a:p>
            <a:pPr algn="l">
              <a:spcBef>
                <a:spcPts val="0"/>
              </a:spcBef>
              <a:spcAft>
                <a:spcPts val="200"/>
              </a:spcAft>
              <a:buNone/>
            </a:pPr>
            <a:r>
              <a:rPr sz="1300" b="0" i="1">
                <a:solidFill>
                  <a:srgbClr val="9FB3C8"/>
                </a:solidFill>
                <a:latin typeface="Calibri"/>
              </a:rPr>
              <a:t>Submitted by</a:t>
            </a:r>
          </a:p>
          <a:p>
            <a:pPr algn="l">
              <a:spcBef>
                <a:spcPts val="0"/>
              </a:spcBef>
              <a:spcAft>
                <a:spcPts val="400"/>
              </a:spcAft>
              <a:buNone/>
            </a:pPr>
            <a:r>
              <a:rPr sz="2000" b="1" i="0">
                <a:solidFill>
                  <a:srgbClr val="FFFFFF"/>
                </a:solidFill>
                <a:latin typeface="Calibri"/>
              </a:rPr>
              <a:t>[STUDENT NAME]   (UID: [____________])</a:t>
            </a:r>
          </a:p>
          <a:p>
            <a:pPr algn="l">
              <a:spcBef>
                <a:spcPts val="0"/>
              </a:spcBef>
              <a:spcAft>
                <a:spcPts val="0"/>
              </a:spcAft>
              <a:buNone/>
            </a:pPr>
            <a:r>
              <a:rPr sz="1400" b="0" i="0">
                <a:solidFill>
                  <a:srgbClr val="CBD5E1"/>
                </a:solidFill>
                <a:latin typeface="Calibri"/>
              </a:rPr>
              <a:t>B.E. Computer Science &amp; Engineering  -  Chandigarh University</a:t>
            </a:r>
          </a:p>
        </p:txBody>
      </p:sp>
      <p:sp>
        <p:nvSpPr>
          <p:cNvPr id="10" name="TextBox 9"/>
          <p:cNvSpPr txBox="1"/>
          <p:nvPr/>
        </p:nvSpPr>
        <p:spPr>
          <a:xfrm>
            <a:off x="8869680" y="5440680"/>
            <a:ext cx="2468880" cy="822960"/>
          </a:xfrm>
          <a:prstGeom prst="rect">
            <a:avLst/>
          </a:prstGeom>
          <a:noFill/>
        </p:spPr>
        <p:txBody>
          <a:bodyPr wrap="square" anchor="ctr" lIns="0" rIns="0" tIns="0" bIns="0">
            <a:spAutoFit/>
          </a:bodyPr>
          <a:lstStyle/>
          <a:p>
            <a:pPr algn="r">
              <a:spcBef>
                <a:spcPts val="0"/>
              </a:spcBef>
              <a:spcAft>
                <a:spcPts val="0"/>
              </a:spcAft>
              <a:buNone/>
            </a:pPr>
            <a:r>
              <a:rPr sz="1600" b="1" i="0">
                <a:solidFill>
                  <a:srgbClr val="FFFFFF"/>
                </a:solidFill>
                <a:latin typeface="Calibri"/>
              </a:rPr>
              <a:t>[MONTH]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OUTLINE</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Agenda</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303520" cy="4389120"/>
          </a:xfrm>
          <a:prstGeom prst="rect">
            <a:avLst/>
          </a:prstGeom>
          <a:noFill/>
        </p:spPr>
        <p:txBody>
          <a:bodyPr wrap="square" anchor="t" lIns="0" rIns="0" tIns="0" bIns="0">
            <a:spAutoFit/>
          </a:bodyPr>
          <a:lstStyle/>
          <a:p>
            <a:pPr algn="l">
              <a:spcBef>
                <a:spcPts val="0"/>
              </a:spcBef>
              <a:spcAft>
                <a:spcPts val="1200"/>
              </a:spcAft>
              <a:buNone/>
            </a:pPr>
            <a:r>
              <a:rPr sz="1800" b="0" i="0">
                <a:solidFill>
                  <a:srgbClr val="0F172A"/>
                </a:solidFill>
                <a:latin typeface="Calibri"/>
              </a:rPr>
              <a:t>1.  Organisation &amp; domain</a:t>
            </a:r>
          </a:p>
          <a:p>
            <a:pPr algn="l">
              <a:spcBef>
                <a:spcPts val="0"/>
              </a:spcBef>
              <a:spcAft>
                <a:spcPts val="1200"/>
              </a:spcAft>
              <a:buNone/>
            </a:pPr>
            <a:r>
              <a:rPr sz="1800" b="0" i="0">
                <a:solidFill>
                  <a:srgbClr val="0F172A"/>
                </a:solidFill>
                <a:latin typeface="Calibri"/>
              </a:rPr>
              <a:t>2.  Problem statement</a:t>
            </a:r>
          </a:p>
          <a:p>
            <a:pPr algn="l">
              <a:spcBef>
                <a:spcPts val="0"/>
              </a:spcBef>
              <a:spcAft>
                <a:spcPts val="1200"/>
              </a:spcAft>
              <a:buNone/>
            </a:pPr>
            <a:r>
              <a:rPr sz="1800" b="0" i="0">
                <a:solidFill>
                  <a:srgbClr val="0F172A"/>
                </a:solidFill>
                <a:latin typeface="Calibri"/>
              </a:rPr>
              <a:t>3.  Objectives &amp; scope</a:t>
            </a:r>
          </a:p>
          <a:p>
            <a:pPr algn="l">
              <a:spcBef>
                <a:spcPts val="0"/>
              </a:spcBef>
              <a:spcAft>
                <a:spcPts val="1200"/>
              </a:spcAft>
              <a:buNone/>
            </a:pPr>
            <a:r>
              <a:rPr sz="1800" b="0" i="0">
                <a:solidFill>
                  <a:srgbClr val="0F172A"/>
                </a:solidFill>
                <a:latin typeface="Calibri"/>
              </a:rPr>
              <a:t>4.  Technology stack</a:t>
            </a:r>
          </a:p>
          <a:p>
            <a:pPr algn="l">
              <a:spcBef>
                <a:spcPts val="0"/>
              </a:spcBef>
              <a:spcAft>
                <a:spcPts val="1200"/>
              </a:spcAft>
              <a:buNone/>
            </a:pPr>
            <a:r>
              <a:rPr sz="1800" b="0" i="0">
                <a:solidFill>
                  <a:srgbClr val="0F172A"/>
                </a:solidFill>
                <a:latin typeface="Calibri"/>
              </a:rPr>
              <a:t>5.  System architecture</a:t>
            </a:r>
          </a:p>
          <a:p>
            <a:pPr algn="l">
              <a:spcBef>
                <a:spcPts val="0"/>
              </a:spcBef>
              <a:spcAft>
                <a:spcPts val="1200"/>
              </a:spcAft>
              <a:buNone/>
            </a:pPr>
            <a:r>
              <a:rPr sz="1800" b="0" i="0">
                <a:solidFill>
                  <a:srgbClr val="0F172A"/>
                </a:solidFill>
                <a:latin typeface="Calibri"/>
              </a:rPr>
              <a:t>6.  Database design</a:t>
            </a:r>
          </a:p>
        </p:txBody>
      </p:sp>
      <p:sp>
        <p:nvSpPr>
          <p:cNvPr id="7" name="TextBox 6"/>
          <p:cNvSpPr txBox="1"/>
          <p:nvPr/>
        </p:nvSpPr>
        <p:spPr>
          <a:xfrm>
            <a:off x="6309360" y="1874519"/>
            <a:ext cx="5303520" cy="4206240"/>
          </a:xfrm>
          <a:prstGeom prst="rect">
            <a:avLst/>
          </a:prstGeom>
          <a:noFill/>
        </p:spPr>
        <p:txBody>
          <a:bodyPr wrap="square" anchor="t" lIns="0" rIns="0" tIns="0" bIns="0">
            <a:spAutoFit/>
          </a:bodyPr>
          <a:lstStyle/>
          <a:p>
            <a:pPr algn="l">
              <a:spcBef>
                <a:spcPts val="0"/>
              </a:spcBef>
              <a:spcAft>
                <a:spcPts val="1200"/>
              </a:spcAft>
              <a:buNone/>
            </a:pPr>
            <a:r>
              <a:rPr sz="1800" b="0" i="0">
                <a:solidFill>
                  <a:srgbClr val="0F172A"/>
                </a:solidFill>
                <a:latin typeface="Calibri"/>
              </a:rPr>
              <a:t>7.  Security &amp; user roles</a:t>
            </a:r>
          </a:p>
          <a:p>
            <a:pPr algn="l">
              <a:spcBef>
                <a:spcPts val="0"/>
              </a:spcBef>
              <a:spcAft>
                <a:spcPts val="1200"/>
              </a:spcAft>
              <a:buNone/>
            </a:pPr>
            <a:r>
              <a:rPr sz="1800" b="0" i="0">
                <a:solidFill>
                  <a:srgbClr val="0F172A"/>
                </a:solidFill>
                <a:latin typeface="Calibri"/>
              </a:rPr>
              <a:t>8.  Modules &amp; key features</a:t>
            </a:r>
          </a:p>
          <a:p>
            <a:pPr algn="l">
              <a:spcBef>
                <a:spcPts val="0"/>
              </a:spcBef>
              <a:spcAft>
                <a:spcPts val="1200"/>
              </a:spcAft>
              <a:buNone/>
            </a:pPr>
            <a:r>
              <a:rPr sz="1800" b="0" i="0">
                <a:solidFill>
                  <a:srgbClr val="0F172A"/>
                </a:solidFill>
                <a:latin typeface="Calibri"/>
              </a:rPr>
              <a:t>9.  Real-time monitoring</a:t>
            </a:r>
          </a:p>
          <a:p>
            <a:pPr algn="l">
              <a:spcBef>
                <a:spcPts val="0"/>
              </a:spcBef>
              <a:spcAft>
                <a:spcPts val="1200"/>
              </a:spcAft>
              <a:buNone/>
            </a:pPr>
            <a:r>
              <a:rPr sz="1800" b="0" i="0">
                <a:solidFill>
                  <a:srgbClr val="0F172A"/>
                </a:solidFill>
                <a:latin typeface="Calibri"/>
              </a:rPr>
              <a:t>10. Quality, OEE &amp; alerts</a:t>
            </a:r>
          </a:p>
          <a:p>
            <a:pPr algn="l">
              <a:spcBef>
                <a:spcPts val="0"/>
              </a:spcBef>
              <a:spcAft>
                <a:spcPts val="1200"/>
              </a:spcAft>
              <a:buNone/>
            </a:pPr>
            <a:r>
              <a:rPr sz="1800" b="0" i="0">
                <a:solidFill>
                  <a:srgbClr val="0F172A"/>
                </a:solidFill>
                <a:latin typeface="Calibri"/>
              </a:rPr>
              <a:t>11. Testing &amp; results</a:t>
            </a:r>
          </a:p>
          <a:p>
            <a:pPr algn="l">
              <a:spcBef>
                <a:spcPts val="0"/>
              </a:spcBef>
              <a:spcAft>
                <a:spcPts val="1200"/>
              </a:spcAft>
              <a:buNone/>
            </a:pPr>
            <a:r>
              <a:rPr sz="1800" b="0" i="0">
                <a:solidFill>
                  <a:srgbClr val="0F172A"/>
                </a:solidFill>
                <a:latin typeface="Calibri"/>
              </a:rPr>
              <a:t>12. Challenges &amp; future scope</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CONTEXT</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Organisation &amp; Domain</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1" i="0">
                <a:solidFill>
                  <a:srgbClr val="0F172A"/>
                </a:solidFill>
                <a:latin typeface="Calibri"/>
              </a:rPr>
              <a:t>Satia Industries Ltd.</a:t>
            </a:r>
            <a:r>
              <a:rPr sz="1800" b="0" i="0">
                <a:solidFill>
                  <a:srgbClr val="0F172A"/>
                </a:solidFill>
                <a:latin typeface="Calibri"/>
              </a:rPr>
              <a:t> - a leading agro-residue paper manufacturer producing writing &amp; printing paper primarily from </a:t>
            </a:r>
            <a:r>
              <a:rPr sz="1800" b="1" i="0">
                <a:solidFill>
                  <a:srgbClr val="0F172A"/>
                </a:solidFill>
                <a:latin typeface="Calibri"/>
              </a:rPr>
              <a:t>wheat straw</a:t>
            </a:r>
            <a:r>
              <a:rPr sz="1800" b="0" i="0">
                <a:solidFill>
                  <a:srgbClr val="0F172A"/>
                </a:solidFill>
                <a:latin typeface="Calibri"/>
              </a:rPr>
              <a:t> and wood pulp.</a:t>
            </a:r>
          </a:p>
          <a:p>
            <a:pPr algn="l" indent="-228600" marL="228600">
              <a:spcBef>
                <a:spcPts val="0"/>
              </a:spcBef>
              <a:spcAft>
                <a:spcPts val="1000"/>
              </a:spcAft>
              <a:buFont typeface="Arial"/>
              <a:buChar char="•"/>
            </a:pPr>
            <a:r>
              <a:rPr sz="1800" b="0" i="0">
                <a:solidFill>
                  <a:srgbClr val="0F172A"/>
                </a:solidFill>
                <a:latin typeface="Calibri"/>
              </a:rPr>
              <a:t>Production flows through several stages: </a:t>
            </a:r>
            <a:r>
              <a:rPr sz="1800" b="1" i="0">
                <a:solidFill>
                  <a:srgbClr val="0F172A"/>
                </a:solidFill>
                <a:latin typeface="Calibri"/>
              </a:rPr>
              <a:t>pulping -&gt; stock preparation -&gt; paper machine (PM) -&gt; finishing</a:t>
            </a:r>
            <a:r>
              <a:rPr sz="1800" b="0" i="0">
                <a:solidFill>
                  <a:srgbClr val="0F172A"/>
                </a:solidFill>
                <a:latin typeface="Calibri"/>
              </a:rPr>
              <a:t>, run on multiple paper machines.</a:t>
            </a:r>
          </a:p>
          <a:p>
            <a:pPr algn="l" indent="-228600" marL="228600">
              <a:spcBef>
                <a:spcPts val="0"/>
              </a:spcBef>
              <a:spcAft>
                <a:spcPts val="1000"/>
              </a:spcAft>
              <a:buFont typeface="Arial"/>
              <a:buChar char="•"/>
            </a:pPr>
            <a:r>
              <a:rPr sz="1800" b="0" i="0">
                <a:solidFill>
                  <a:srgbClr val="0F172A"/>
                </a:solidFill>
                <a:latin typeface="Calibri"/>
              </a:rPr>
              <a:t>Key process parameters: output (tonnes), </a:t>
            </a:r>
            <a:r>
              <a:rPr sz="1800" b="1" i="0">
                <a:solidFill>
                  <a:srgbClr val="0F172A"/>
                </a:solidFill>
                <a:latin typeface="Calibri"/>
              </a:rPr>
              <a:t>GSM</a:t>
            </a:r>
            <a:r>
              <a:rPr sz="1800" b="0" i="0">
                <a:solidFill>
                  <a:srgbClr val="0F172A"/>
                </a:solidFill>
                <a:latin typeface="Calibri"/>
              </a:rPr>
              <a:t>, </a:t>
            </a:r>
            <a:r>
              <a:rPr sz="1800" b="1" i="0">
                <a:solidFill>
                  <a:srgbClr val="0F172A"/>
                </a:solidFill>
                <a:latin typeface="Calibri"/>
              </a:rPr>
              <a:t>moisture</a:t>
            </a:r>
            <a:r>
              <a:rPr sz="1800" b="0" i="0">
                <a:solidFill>
                  <a:srgbClr val="0F172A"/>
                </a:solidFill>
                <a:latin typeface="Calibri"/>
              </a:rPr>
              <a:t>, machine speed, temperature, running hours and efficiency.</a:t>
            </a:r>
          </a:p>
          <a:p>
            <a:pPr algn="l" indent="-228600" marL="228600">
              <a:spcBef>
                <a:spcPts val="0"/>
              </a:spcBef>
              <a:spcAft>
                <a:spcPts val="1000"/>
              </a:spcAft>
              <a:buFont typeface="Arial"/>
              <a:buChar char="•"/>
            </a:pPr>
            <a:r>
              <a:rPr sz="1800" b="0" i="0">
                <a:solidFill>
                  <a:srgbClr val="0F172A"/>
                </a:solidFill>
                <a:latin typeface="Calibri"/>
              </a:rPr>
              <a:t>Continuous, round-the-clock operation across </a:t>
            </a:r>
            <a:r>
              <a:rPr sz="1800" b="1" i="0">
                <a:solidFill>
                  <a:srgbClr val="0F172A"/>
                </a:solidFill>
                <a:latin typeface="Calibri"/>
              </a:rPr>
              <a:t>three shifts (A / B / C)</a:t>
            </a:r>
            <a:r>
              <a:rPr sz="1800" b="0" i="0">
                <a:solidFill>
                  <a:srgbClr val="0F172A"/>
                </a:solidFill>
                <a:latin typeface="Calibri"/>
              </a:rPr>
              <a:t> makes timely visibility of production, quality and machine health business-critical.</a:t>
            </a:r>
          </a:p>
          <a:p>
            <a:pPr algn="l" lvl="1" indent="-228600" marL="228600">
              <a:spcBef>
                <a:spcPts val="0"/>
              </a:spcBef>
              <a:spcAft>
                <a:spcPts val="600"/>
              </a:spcAft>
              <a:buFont typeface="Arial"/>
              <a:buChar char="•"/>
            </a:pPr>
            <a:r>
              <a:rPr sz="1550" b="0" i="0">
                <a:solidFill>
                  <a:srgbClr val="64748B"/>
                </a:solidFill>
                <a:latin typeface="Calibri"/>
              </a:rPr>
              <a:t>Disclaimer: all figures in this project are simulated and industry-realistic - no confidential Satia data is used.</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MOTIVATION</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Problem Statement</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Production is recorded </a:t>
            </a:r>
            <a:r>
              <a:rPr sz="1800" b="1" i="0">
                <a:solidFill>
                  <a:srgbClr val="0F172A"/>
                </a:solidFill>
                <a:latin typeface="Calibri"/>
              </a:rPr>
              <a:t>manually</a:t>
            </a:r>
            <a:r>
              <a:rPr sz="1800" b="0" i="0">
                <a:solidFill>
                  <a:srgbClr val="0F172A"/>
                </a:solidFill>
                <a:latin typeface="Calibri"/>
              </a:rPr>
              <a:t> in shift registers, logbooks and disconnected spreadsheets kept separately for each section.</a:t>
            </a:r>
          </a:p>
          <a:p>
            <a:pPr algn="l" indent="-228600" marL="228600">
              <a:spcBef>
                <a:spcPts val="0"/>
              </a:spcBef>
              <a:spcAft>
                <a:spcPts val="1000"/>
              </a:spcAft>
              <a:buFont typeface="Arial"/>
              <a:buChar char="•"/>
            </a:pPr>
            <a:r>
              <a:rPr sz="1800" b="1" i="0">
                <a:solidFill>
                  <a:srgbClr val="0F172A"/>
                </a:solidFill>
                <a:latin typeface="Calibri"/>
              </a:rPr>
              <a:t>No consolidated, real-time view</a:t>
            </a:r>
            <a:r>
              <a:rPr sz="1800" b="0" i="0">
                <a:solidFill>
                  <a:srgbClr val="0F172A"/>
                </a:solidFill>
                <a:latin typeface="Calibri"/>
              </a:rPr>
              <a:t> of output, quality (GSM / moisture), machine status, downtime or efficiency across the plant.</a:t>
            </a:r>
          </a:p>
          <a:p>
            <a:pPr algn="l" indent="-228600" marL="228600">
              <a:spcBef>
                <a:spcPts val="0"/>
              </a:spcBef>
              <a:spcAft>
                <a:spcPts val="1000"/>
              </a:spcAft>
              <a:buFont typeface="Arial"/>
              <a:buChar char="•"/>
            </a:pPr>
            <a:r>
              <a:rPr sz="1800" b="0" i="0">
                <a:solidFill>
                  <a:srgbClr val="0F172A"/>
                </a:solidFill>
                <a:latin typeface="Calibri"/>
              </a:rPr>
              <a:t>Out-of-spec quality and excessive downtime are often </a:t>
            </a:r>
            <a:r>
              <a:rPr sz="1800" b="1" i="0">
                <a:solidFill>
                  <a:srgbClr val="0F172A"/>
                </a:solidFill>
                <a:latin typeface="Calibri"/>
              </a:rPr>
              <a:t>detected late</a:t>
            </a:r>
            <a:r>
              <a:rPr sz="1800" b="0" i="0">
                <a:solidFill>
                  <a:srgbClr val="0F172A"/>
                </a:solidFill>
                <a:latin typeface="Calibri"/>
              </a:rPr>
              <a:t>, after the shift, when corrective action is harder.</a:t>
            </a:r>
          </a:p>
          <a:p>
            <a:pPr algn="l" indent="-228600" marL="228600">
              <a:spcBef>
                <a:spcPts val="0"/>
              </a:spcBef>
              <a:spcAft>
                <a:spcPts val="1000"/>
              </a:spcAft>
              <a:buFont typeface="Arial"/>
              <a:buChar char="•"/>
            </a:pPr>
            <a:r>
              <a:rPr sz="1800" b="1" i="0">
                <a:solidFill>
                  <a:srgbClr val="0F172A"/>
                </a:solidFill>
                <a:latin typeface="Calibri"/>
              </a:rPr>
              <a:t>KPIs such as OEE are tedious to compute</a:t>
            </a:r>
            <a:r>
              <a:rPr sz="1800" b="0" i="0">
                <a:solidFill>
                  <a:srgbClr val="0F172A"/>
                </a:solidFill>
                <a:latin typeface="Calibri"/>
              </a:rPr>
              <a:t> by hand, and management reports take time to compile from scattered sources.</a:t>
            </a:r>
          </a:p>
          <a:p>
            <a:pPr algn="l" indent="-228600" marL="228600">
              <a:spcBef>
                <a:spcPts val="0"/>
              </a:spcBef>
              <a:spcAft>
                <a:spcPts val="1000"/>
              </a:spcAft>
              <a:buFont typeface="Arial"/>
              <a:buChar char="•"/>
            </a:pPr>
            <a:r>
              <a:rPr sz="1800" b="0" i="0">
                <a:solidFill>
                  <a:srgbClr val="0F172A"/>
                </a:solidFill>
                <a:latin typeface="Calibri"/>
              </a:rPr>
              <a:t>Data is hard to secure, audit or share role-by-role across the organisation.</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GOALS</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Objectives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Provide a </a:t>
            </a:r>
            <a:r>
              <a:rPr sz="1800" b="1" i="0">
                <a:solidFill>
                  <a:srgbClr val="0F172A"/>
                </a:solidFill>
                <a:latin typeface="Calibri"/>
              </a:rPr>
              <a:t>centralised, role-based web dashboard</a:t>
            </a:r>
            <a:r>
              <a:rPr sz="1800" b="0" i="0">
                <a:solidFill>
                  <a:srgbClr val="0F172A"/>
                </a:solidFill>
                <a:latin typeface="Calibri"/>
              </a:rPr>
              <a:t> for real-time production monitoring.</a:t>
            </a:r>
          </a:p>
          <a:p>
            <a:pPr algn="l" indent="-228600" marL="228600">
              <a:spcBef>
                <a:spcPts val="0"/>
              </a:spcBef>
              <a:spcAft>
                <a:spcPts val="1000"/>
              </a:spcAft>
              <a:buFont typeface="Arial"/>
              <a:buChar char="•"/>
            </a:pPr>
            <a:r>
              <a:rPr sz="1800" b="0" i="0">
                <a:solidFill>
                  <a:srgbClr val="0F172A"/>
                </a:solidFill>
                <a:latin typeface="Calibri"/>
              </a:rPr>
              <a:t>Capture production output and </a:t>
            </a:r>
            <a:r>
              <a:rPr sz="1800" b="1" i="0">
                <a:solidFill>
                  <a:srgbClr val="0F172A"/>
                </a:solidFill>
                <a:latin typeface="Calibri"/>
              </a:rPr>
              <a:t>quality parameters (GSM, moisture, speed)</a:t>
            </a:r>
            <a:r>
              <a:rPr sz="1800" b="0" i="0">
                <a:solidFill>
                  <a:srgbClr val="0F172A"/>
                </a:solidFill>
                <a:latin typeface="Calibri"/>
              </a:rPr>
              <a:t> plus </a:t>
            </a:r>
            <a:r>
              <a:rPr sz="1800" b="1" i="0">
                <a:solidFill>
                  <a:srgbClr val="0F172A"/>
                </a:solidFill>
                <a:latin typeface="Calibri"/>
              </a:rPr>
              <a:t>downtime events</a:t>
            </a:r>
            <a:r>
              <a:rPr sz="1800" b="0" i="0">
                <a:solidFill>
                  <a:srgbClr val="0F172A"/>
                </a:solidFill>
                <a:latin typeface="Calibri"/>
              </a:rPr>
              <a:t>, persisted in a database.</a:t>
            </a:r>
          </a:p>
          <a:p>
            <a:pPr algn="l" indent="-228600" marL="228600">
              <a:spcBef>
                <a:spcPts val="0"/>
              </a:spcBef>
              <a:spcAft>
                <a:spcPts val="1000"/>
              </a:spcAft>
              <a:buFont typeface="Arial"/>
              <a:buChar char="•"/>
            </a:pPr>
            <a:r>
              <a:rPr sz="1800" b="0" i="0">
                <a:solidFill>
                  <a:srgbClr val="0F172A"/>
                </a:solidFill>
                <a:latin typeface="Calibri"/>
              </a:rPr>
              <a:t>Show </a:t>
            </a:r>
            <a:r>
              <a:rPr sz="1800" b="1" i="0">
                <a:solidFill>
                  <a:srgbClr val="0F172A"/>
                </a:solidFill>
                <a:latin typeface="Calibri"/>
              </a:rPr>
              <a:t>live machine status and telemetry</a:t>
            </a:r>
            <a:r>
              <a:rPr sz="1800" b="0" i="0">
                <a:solidFill>
                  <a:srgbClr val="0F172A"/>
                </a:solidFill>
                <a:latin typeface="Calibri"/>
              </a:rPr>
              <a:t> and raise </a:t>
            </a:r>
            <a:r>
              <a:rPr sz="1800" b="1" i="0">
                <a:solidFill>
                  <a:srgbClr val="0F172A"/>
                </a:solidFill>
                <a:latin typeface="Calibri"/>
              </a:rPr>
              <a:t>threshold-driven alerts</a:t>
            </a:r>
            <a:r>
              <a:rPr sz="1800" b="0" i="0">
                <a:solidFill>
                  <a:srgbClr val="0F172A"/>
                </a:solidFill>
                <a:latin typeface="Calibri"/>
              </a:rPr>
              <a:t> automatically.</a:t>
            </a:r>
          </a:p>
          <a:p>
            <a:pPr algn="l" indent="-228600" marL="228600">
              <a:spcBef>
                <a:spcPts val="0"/>
              </a:spcBef>
              <a:spcAft>
                <a:spcPts val="1000"/>
              </a:spcAft>
              <a:buFont typeface="Arial"/>
              <a:buChar char="•"/>
            </a:pPr>
            <a:r>
              <a:rPr sz="1800" b="0" i="0">
                <a:solidFill>
                  <a:srgbClr val="0F172A"/>
                </a:solidFill>
                <a:latin typeface="Calibri"/>
              </a:rPr>
              <a:t>Compute </a:t>
            </a:r>
            <a:r>
              <a:rPr sz="1800" b="1" i="0">
                <a:solidFill>
                  <a:srgbClr val="0F172A"/>
                </a:solidFill>
                <a:latin typeface="Calibri"/>
              </a:rPr>
              <a:t>OEE and key KPIs</a:t>
            </a:r>
            <a:r>
              <a:rPr sz="1800" b="0" i="0">
                <a:solidFill>
                  <a:srgbClr val="0F172A"/>
                </a:solidFill>
                <a:latin typeface="Calibri"/>
              </a:rPr>
              <a:t> and let users </a:t>
            </a:r>
            <a:r>
              <a:rPr sz="1800" b="1" i="0">
                <a:solidFill>
                  <a:srgbClr val="0F172A"/>
                </a:solidFill>
                <a:latin typeface="Calibri"/>
              </a:rPr>
              <a:t>export reports (CSV / PDF)</a:t>
            </a:r>
            <a:r>
              <a:rPr sz="1800" b="0" i="0">
                <a:solidFill>
                  <a:srgbClr val="0F172A"/>
                </a:solidFill>
                <a:latin typeface="Calibri"/>
              </a:rPr>
              <a:t>.</a:t>
            </a:r>
          </a:p>
          <a:p>
            <a:pPr algn="l" indent="-228600" marL="228600">
              <a:spcBef>
                <a:spcPts val="0"/>
              </a:spcBef>
              <a:spcAft>
                <a:spcPts val="1000"/>
              </a:spcAft>
              <a:buFont typeface="Arial"/>
              <a:buChar char="•"/>
            </a:pPr>
            <a:r>
              <a:rPr sz="1800" b="0" i="0">
                <a:solidFill>
                  <a:srgbClr val="0F172A"/>
                </a:solidFill>
                <a:latin typeface="Calibri"/>
              </a:rPr>
              <a:t>Enforce </a:t>
            </a:r>
            <a:r>
              <a:rPr sz="1800" b="1" i="0">
                <a:solidFill>
                  <a:srgbClr val="0F172A"/>
                </a:solidFill>
                <a:latin typeface="Calibri"/>
              </a:rPr>
              <a:t>secure authentication and access control</a:t>
            </a:r>
            <a:r>
              <a:rPr sz="1800" b="0" i="0">
                <a:solidFill>
                  <a:srgbClr val="0F172A"/>
                </a:solidFill>
                <a:latin typeface="Calibri"/>
              </a:rPr>
              <a:t>, and run on standard, low-cost student hardware and a normal browser.</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BOUNDARIES</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Scope</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1" i="0">
                <a:solidFill>
                  <a:srgbClr val="0F172A"/>
                </a:solidFill>
                <a:latin typeface="Calibri"/>
              </a:rPr>
              <a:t>In scope:</a:t>
            </a:r>
            <a:r>
              <a:rPr sz="1800" b="0" i="0">
                <a:solidFill>
                  <a:srgbClr val="0F172A"/>
                </a:solidFill>
                <a:latin typeface="Calibri"/>
              </a:rPr>
              <a:t> a complete web application - responsive front-end, REST API back-end and a database - with four user roles and nine functional modules.</a:t>
            </a:r>
          </a:p>
          <a:p>
            <a:pPr algn="l" indent="-228600" marL="228600">
              <a:spcBef>
                <a:spcPts val="0"/>
              </a:spcBef>
              <a:spcAft>
                <a:spcPts val="1000"/>
              </a:spcAft>
              <a:buFont typeface="Arial"/>
              <a:buChar char="•"/>
            </a:pPr>
            <a:r>
              <a:rPr sz="1800" b="1" i="0">
                <a:solidFill>
                  <a:srgbClr val="0F172A"/>
                </a:solidFill>
                <a:latin typeface="Calibri"/>
              </a:rPr>
              <a:t>In scope:</a:t>
            </a:r>
            <a:r>
              <a:rPr sz="1800" b="0" i="0">
                <a:solidFill>
                  <a:srgbClr val="0F172A"/>
                </a:solidFill>
                <a:latin typeface="Calibri"/>
              </a:rPr>
              <a:t> authentication, production &amp; quality entry, machine monitoring, maintenance, downtime logging, reports, alerts, settings and an admin panel.</a:t>
            </a:r>
          </a:p>
          <a:p>
            <a:pPr algn="l" indent="-228600" marL="228600">
              <a:spcBef>
                <a:spcPts val="0"/>
              </a:spcBef>
              <a:spcAft>
                <a:spcPts val="1000"/>
              </a:spcAft>
              <a:buFont typeface="Arial"/>
              <a:buChar char="•"/>
            </a:pPr>
            <a:r>
              <a:rPr sz="1800" b="1" i="0">
                <a:solidFill>
                  <a:srgbClr val="0F172A"/>
                </a:solidFill>
                <a:latin typeface="Calibri"/>
              </a:rPr>
              <a:t>Simulated sensors:</a:t>
            </a:r>
            <a:r>
              <a:rPr sz="1800" b="0" i="0">
                <a:solidFill>
                  <a:srgbClr val="0F172A"/>
                </a:solidFill>
                <a:latin typeface="Calibri"/>
              </a:rPr>
              <a:t> live machine telemetry is streamed from the server to mimic a real sensor feed, since plant PLC/DCS hardware is not available to a student project.</a:t>
            </a:r>
          </a:p>
          <a:p>
            <a:pPr algn="l" indent="-228600" marL="228600">
              <a:spcBef>
                <a:spcPts val="0"/>
              </a:spcBef>
              <a:spcAft>
                <a:spcPts val="1000"/>
              </a:spcAft>
              <a:buFont typeface="Arial"/>
              <a:buChar char="•"/>
            </a:pPr>
            <a:r>
              <a:rPr sz="1800" b="1" i="0">
                <a:solidFill>
                  <a:srgbClr val="0F172A"/>
                </a:solidFill>
                <a:latin typeface="Calibri"/>
              </a:rPr>
              <a:t>Out of scope:</a:t>
            </a:r>
            <a:r>
              <a:rPr sz="1800" b="0" i="0">
                <a:solidFill>
                  <a:srgbClr val="0F172A"/>
                </a:solidFill>
                <a:latin typeface="Calibri"/>
              </a:rPr>
              <a:t> direct PLC / DCS / IoT sensor integration, ERP/SAP integration, and a native mobile application - identified instead as future scope.</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TOOLS</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Technology Stack</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874519"/>
          <a:ext cx="10881360" cy="3401568"/>
        </p:xfrm>
        <a:graphic>
          <a:graphicData uri="http://schemas.openxmlformats.org/drawingml/2006/table">
            <a:tbl>
              <a:tblPr firstRow="1" bandRow="1">
                <a:tableStyleId>{5C22544A-7EE6-4342-B048-85BDC9FD1C3A}</a:tableStyleId>
              </a:tblPr>
              <a:tblGrid>
                <a:gridCol w="2011680"/>
                <a:gridCol w="4297680"/>
                <a:gridCol w="4572000"/>
              </a:tblGrid>
              <a:tr h="425196">
                <a:tc>
                  <a:txBody>
                    <a:bodyPr wrap="square"/>
                    <a:lstStyle/>
                    <a:p>
                      <a:pPr algn="l">
                        <a:spcBef>
                          <a:spcPts val="0"/>
                        </a:spcBef>
                        <a:spcAft>
                          <a:spcPts val="0"/>
                        </a:spcAft>
                        <a:buNone/>
                      </a:pPr>
                      <a:r>
                        <a:rPr sz="1300" b="1" i="0">
                          <a:solidFill>
                            <a:srgbClr val="FFFFFF"/>
                          </a:solidFill>
                          <a:latin typeface="Calibri"/>
                        </a:rPr>
                        <a:t>Layer</a:t>
                      </a:r>
                    </a:p>
                  </a:txBody>
                  <a:tcPr anchor="ctr" marT="38100" marB="38100" marL="101600" marR="101600">
                    <a:solidFill>
                      <a:srgbClr val="0F2A47"/>
                    </a:solidFill>
                  </a:tcPr>
                </a:tc>
                <a:tc>
                  <a:txBody>
                    <a:bodyPr wrap="square"/>
                    <a:lstStyle/>
                    <a:p>
                      <a:pPr algn="l">
                        <a:spcBef>
                          <a:spcPts val="0"/>
                        </a:spcBef>
                        <a:spcAft>
                          <a:spcPts val="0"/>
                        </a:spcAft>
                        <a:buNone/>
                      </a:pPr>
                      <a:r>
                        <a:rPr sz="1300" b="1" i="0">
                          <a:solidFill>
                            <a:srgbClr val="FFFFFF"/>
                          </a:solidFill>
                          <a:latin typeface="Calibri"/>
                        </a:rPr>
                        <a:t>Technology</a:t>
                      </a:r>
                    </a:p>
                  </a:txBody>
                  <a:tcPr anchor="ctr" marT="38100" marB="38100" marL="101600" marR="101600">
                    <a:solidFill>
                      <a:srgbClr val="0F2A47"/>
                    </a:solidFill>
                  </a:tcPr>
                </a:tc>
                <a:tc>
                  <a:txBody>
                    <a:bodyPr wrap="square"/>
                    <a:lstStyle/>
                    <a:p>
                      <a:pPr algn="l">
                        <a:spcBef>
                          <a:spcPts val="0"/>
                        </a:spcBef>
                        <a:spcAft>
                          <a:spcPts val="0"/>
                        </a:spcAft>
                        <a:buNone/>
                      </a:pPr>
                      <a:r>
                        <a:rPr sz="1300" b="1" i="0">
                          <a:solidFill>
                            <a:srgbClr val="FFFFFF"/>
                          </a:solidFill>
                          <a:latin typeface="Calibri"/>
                        </a:rPr>
                        <a:t>Why</a:t>
                      </a:r>
                    </a:p>
                  </a:txBody>
                  <a:tcPr anchor="ctr" marT="38100" marB="38100" marL="101600" marR="101600">
                    <a:solidFill>
                      <a:srgbClr val="0F2A47"/>
                    </a:solidFill>
                  </a:tcPr>
                </a:tc>
              </a:tr>
              <a:tr h="425196">
                <a:tc>
                  <a:txBody>
                    <a:bodyPr wrap="square"/>
                    <a:lstStyle/>
                    <a:p>
                      <a:pPr algn="l">
                        <a:spcBef>
                          <a:spcPts val="0"/>
                        </a:spcBef>
                        <a:spcAft>
                          <a:spcPts val="0"/>
                        </a:spcAft>
                        <a:buNone/>
                      </a:pPr>
                      <a:r>
                        <a:rPr sz="1250" b="1" i="0">
                          <a:solidFill>
                            <a:srgbClr val="0F2A47"/>
                          </a:solidFill>
                          <a:latin typeface="Calibri"/>
                        </a:rPr>
                        <a:t>Front-end</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HTML5, CSS3, JavaScript, Chart.js</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Lightweight, no build step, runs anywhere</a:t>
                      </a:r>
                    </a:p>
                  </a:txBody>
                  <a:tcPr anchor="ctr" marT="25400" marB="25400" marL="101600" marR="101600">
                    <a:solidFill>
                      <a:srgbClr val="FFFFFF"/>
                    </a:solidFill>
                  </a:tcPr>
                </a:tc>
              </a:tr>
              <a:tr h="425196">
                <a:tc>
                  <a:txBody>
                    <a:bodyPr wrap="square"/>
                    <a:lstStyle/>
                    <a:p>
                      <a:pPr algn="l">
                        <a:spcBef>
                          <a:spcPts val="0"/>
                        </a:spcBef>
                        <a:spcAft>
                          <a:spcPts val="0"/>
                        </a:spcAft>
                        <a:buNone/>
                      </a:pPr>
                      <a:r>
                        <a:rPr sz="1250" b="1" i="0">
                          <a:solidFill>
                            <a:srgbClr val="0F2A47"/>
                          </a:solidFill>
                          <a:latin typeface="Calibri"/>
                        </a:rPr>
                        <a:t>Back-end</a:t>
                      </a:r>
                    </a:p>
                  </a:txBody>
                  <a:tcPr anchor="ctr" marT="25400" marB="25400" marL="101600" marR="101600">
                    <a:solidFill>
                      <a:srgbClr val="F1F5F9"/>
                    </a:solidFill>
                  </a:tcPr>
                </a:tc>
                <a:tc>
                  <a:txBody>
                    <a:bodyPr wrap="square"/>
                    <a:lstStyle/>
                    <a:p>
                      <a:pPr algn="l">
                        <a:spcBef>
                          <a:spcPts val="0"/>
                        </a:spcBef>
                        <a:spcAft>
                          <a:spcPts val="0"/>
                        </a:spcAft>
                        <a:buNone/>
                      </a:pPr>
                      <a:r>
                        <a:rPr sz="1250" b="0" i="0">
                          <a:solidFill>
                            <a:srgbClr val="0F172A"/>
                          </a:solidFill>
                          <a:latin typeface="Calibri"/>
                        </a:rPr>
                        <a:t>Python - Flask (REST API + static)</a:t>
                      </a:r>
                    </a:p>
                  </a:txBody>
                  <a:tcPr anchor="ctr" marT="25400" marB="25400" marL="101600" marR="101600">
                    <a:solidFill>
                      <a:srgbClr val="F1F5F9"/>
                    </a:solidFill>
                  </a:tcPr>
                </a:tc>
                <a:tc>
                  <a:txBody>
                    <a:bodyPr wrap="square"/>
                    <a:lstStyle/>
                    <a:p>
                      <a:pPr algn="l">
                        <a:spcBef>
                          <a:spcPts val="0"/>
                        </a:spcBef>
                        <a:spcAft>
                          <a:spcPts val="0"/>
                        </a:spcAft>
                        <a:buNone/>
                      </a:pPr>
                      <a:r>
                        <a:rPr sz="1250" b="0" i="0">
                          <a:solidFill>
                            <a:srgbClr val="0F172A"/>
                          </a:solidFill>
                          <a:latin typeface="Calibri"/>
                        </a:rPr>
                        <a:t>Simple, same-origin API &amp; UI</a:t>
                      </a:r>
                    </a:p>
                  </a:txBody>
                  <a:tcPr anchor="ctr" marT="25400" marB="25400" marL="101600" marR="101600">
                    <a:solidFill>
                      <a:srgbClr val="F1F5F9"/>
                    </a:solidFill>
                  </a:tcPr>
                </a:tc>
              </a:tr>
              <a:tr h="425196">
                <a:tc>
                  <a:txBody>
                    <a:bodyPr wrap="square"/>
                    <a:lstStyle/>
                    <a:p>
                      <a:pPr algn="l">
                        <a:spcBef>
                          <a:spcPts val="0"/>
                        </a:spcBef>
                        <a:spcAft>
                          <a:spcPts val="0"/>
                        </a:spcAft>
                        <a:buNone/>
                      </a:pPr>
                      <a:r>
                        <a:rPr sz="1250" b="1" i="0">
                          <a:solidFill>
                            <a:srgbClr val="0F2A47"/>
                          </a:solidFill>
                          <a:latin typeface="Calibri"/>
                        </a:rPr>
                        <a:t>Database</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SQLite (MySQL is production target)</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Zero-config, file-based persistence</a:t>
                      </a:r>
                    </a:p>
                  </a:txBody>
                  <a:tcPr anchor="ctr" marT="25400" marB="25400" marL="101600" marR="101600">
                    <a:solidFill>
                      <a:srgbClr val="FFFFFF"/>
                    </a:solidFill>
                  </a:tcPr>
                </a:tc>
              </a:tr>
              <a:tr h="425196">
                <a:tc>
                  <a:txBody>
                    <a:bodyPr wrap="square"/>
                    <a:lstStyle/>
                    <a:p>
                      <a:pPr algn="l">
                        <a:spcBef>
                          <a:spcPts val="0"/>
                        </a:spcBef>
                        <a:spcAft>
                          <a:spcPts val="0"/>
                        </a:spcAft>
                        <a:buNone/>
                      </a:pPr>
                      <a:r>
                        <a:rPr sz="1250" b="1" i="0">
                          <a:solidFill>
                            <a:srgbClr val="0F2A47"/>
                          </a:solidFill>
                          <a:latin typeface="Calibri"/>
                        </a:rPr>
                        <a:t>Security</a:t>
                      </a:r>
                    </a:p>
                  </a:txBody>
                  <a:tcPr anchor="ctr" marT="25400" marB="25400" marL="101600" marR="101600">
                    <a:solidFill>
                      <a:srgbClr val="F1F5F9"/>
                    </a:solidFill>
                  </a:tcPr>
                </a:tc>
                <a:tc>
                  <a:txBody>
                    <a:bodyPr wrap="square"/>
                    <a:lstStyle/>
                    <a:p>
                      <a:pPr algn="l">
                        <a:spcBef>
                          <a:spcPts val="0"/>
                        </a:spcBef>
                        <a:spcAft>
                          <a:spcPts val="0"/>
                        </a:spcAft>
                        <a:buNone/>
                      </a:pPr>
                      <a:r>
                        <a:rPr sz="1250" b="0" i="0">
                          <a:solidFill>
                            <a:srgbClr val="0F172A"/>
                          </a:solidFill>
                          <a:latin typeface="Calibri"/>
                        </a:rPr>
                        <a:t>bcrypt, PyJWT</a:t>
                      </a:r>
                    </a:p>
                  </a:txBody>
                  <a:tcPr anchor="ctr" marT="25400" marB="25400" marL="101600" marR="101600">
                    <a:solidFill>
                      <a:srgbClr val="F1F5F9"/>
                    </a:solidFill>
                  </a:tcPr>
                </a:tc>
                <a:tc>
                  <a:txBody>
                    <a:bodyPr wrap="square"/>
                    <a:lstStyle/>
                    <a:p>
                      <a:pPr algn="l">
                        <a:spcBef>
                          <a:spcPts val="0"/>
                        </a:spcBef>
                        <a:spcAft>
                          <a:spcPts val="0"/>
                        </a:spcAft>
                        <a:buNone/>
                      </a:pPr>
                      <a:r>
                        <a:rPr sz="1250" b="0" i="0">
                          <a:solidFill>
                            <a:srgbClr val="0F172A"/>
                          </a:solidFill>
                          <a:latin typeface="Calibri"/>
                        </a:rPr>
                        <a:t>Hashed passwords + stateless JWT auth</a:t>
                      </a:r>
                    </a:p>
                  </a:txBody>
                  <a:tcPr anchor="ctr" marT="25400" marB="25400" marL="101600" marR="101600">
                    <a:solidFill>
                      <a:srgbClr val="F1F5F9"/>
                    </a:solidFill>
                  </a:tcPr>
                </a:tc>
              </a:tr>
              <a:tr h="425196">
                <a:tc>
                  <a:txBody>
                    <a:bodyPr wrap="square"/>
                    <a:lstStyle/>
                    <a:p>
                      <a:pPr algn="l">
                        <a:spcBef>
                          <a:spcPts val="0"/>
                        </a:spcBef>
                        <a:spcAft>
                          <a:spcPts val="0"/>
                        </a:spcAft>
                        <a:buNone/>
                      </a:pPr>
                      <a:r>
                        <a:rPr sz="1250" b="1" i="0">
                          <a:solidFill>
                            <a:srgbClr val="0F2A47"/>
                          </a:solidFill>
                          <a:latin typeface="Calibri"/>
                        </a:rPr>
                        <a:t>Real-time</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Server-Sent Events (SSE)</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Live push with zero extra dependencies</a:t>
                      </a:r>
                    </a:p>
                  </a:txBody>
                  <a:tcPr anchor="ctr" marT="25400" marB="25400" marL="101600" marR="101600">
                    <a:solidFill>
                      <a:srgbClr val="FFFFFF"/>
                    </a:solidFill>
                  </a:tcPr>
                </a:tc>
              </a:tr>
              <a:tr h="425196">
                <a:tc>
                  <a:txBody>
                    <a:bodyPr wrap="square"/>
                    <a:lstStyle/>
                    <a:p>
                      <a:pPr algn="l">
                        <a:spcBef>
                          <a:spcPts val="0"/>
                        </a:spcBef>
                        <a:spcAft>
                          <a:spcPts val="0"/>
                        </a:spcAft>
                        <a:buNone/>
                      </a:pPr>
                      <a:r>
                        <a:rPr sz="1250" b="1" i="0">
                          <a:solidFill>
                            <a:srgbClr val="0F2A47"/>
                          </a:solidFill>
                          <a:latin typeface="Calibri"/>
                        </a:rPr>
                        <a:t>Testing</a:t>
                      </a:r>
                    </a:p>
                  </a:txBody>
                  <a:tcPr anchor="ctr" marT="25400" marB="25400" marL="101600" marR="101600">
                    <a:solidFill>
                      <a:srgbClr val="F1F5F9"/>
                    </a:solidFill>
                  </a:tcPr>
                </a:tc>
                <a:tc>
                  <a:txBody>
                    <a:bodyPr wrap="square"/>
                    <a:lstStyle/>
                    <a:p>
                      <a:pPr algn="l">
                        <a:spcBef>
                          <a:spcPts val="0"/>
                        </a:spcBef>
                        <a:spcAft>
                          <a:spcPts val="0"/>
                        </a:spcAft>
                        <a:buNone/>
                      </a:pPr>
                      <a:r>
                        <a:rPr sz="1250" b="0" i="0">
                          <a:solidFill>
                            <a:srgbClr val="0F172A"/>
                          </a:solidFill>
                          <a:latin typeface="Calibri"/>
                        </a:rPr>
                        <a:t>pytest (94 automated tests)</a:t>
                      </a:r>
                    </a:p>
                  </a:txBody>
                  <a:tcPr anchor="ctr" marT="25400" marB="25400" marL="101600" marR="101600">
                    <a:solidFill>
                      <a:srgbClr val="F1F5F9"/>
                    </a:solidFill>
                  </a:tcPr>
                </a:tc>
                <a:tc>
                  <a:txBody>
                    <a:bodyPr wrap="square"/>
                    <a:lstStyle/>
                    <a:p>
                      <a:pPr algn="l">
                        <a:spcBef>
                          <a:spcPts val="0"/>
                        </a:spcBef>
                        <a:spcAft>
                          <a:spcPts val="0"/>
                        </a:spcAft>
                        <a:buNone/>
                      </a:pPr>
                      <a:r>
                        <a:rPr sz="1250" b="0" i="0">
                          <a:solidFill>
                            <a:srgbClr val="0F172A"/>
                          </a:solidFill>
                          <a:latin typeface="Calibri"/>
                        </a:rPr>
                        <a:t>Reproducible backend verification</a:t>
                      </a:r>
                    </a:p>
                  </a:txBody>
                  <a:tcPr anchor="ctr" marT="25400" marB="25400" marL="101600" marR="101600">
                    <a:solidFill>
                      <a:srgbClr val="F1F5F9"/>
                    </a:solidFill>
                  </a:tcPr>
                </a:tc>
              </a:tr>
              <a:tr h="425196">
                <a:tc>
                  <a:txBody>
                    <a:bodyPr wrap="square"/>
                    <a:lstStyle/>
                    <a:p>
                      <a:pPr algn="l">
                        <a:spcBef>
                          <a:spcPts val="0"/>
                        </a:spcBef>
                        <a:spcAft>
                          <a:spcPts val="0"/>
                        </a:spcAft>
                        <a:buNone/>
                      </a:pPr>
                      <a:r>
                        <a:rPr sz="1250" b="1" i="0">
                          <a:solidFill>
                            <a:srgbClr val="0F2A47"/>
                          </a:solidFill>
                          <a:latin typeface="Calibri"/>
                        </a:rPr>
                        <a:t>Docs / Deploy</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python-docx, Matplotlib; gunicorn / Render</a:t>
                      </a:r>
                    </a:p>
                  </a:txBody>
                  <a:tcPr anchor="ctr" marT="25400" marB="25400" marL="101600" marR="101600">
                    <a:solidFill>
                      <a:srgbClr val="FFFFFF"/>
                    </a:solidFill>
                  </a:tcPr>
                </a:tc>
                <a:tc>
                  <a:txBody>
                    <a:bodyPr wrap="square"/>
                    <a:lstStyle/>
                    <a:p>
                      <a:pPr algn="l">
                        <a:spcBef>
                          <a:spcPts val="0"/>
                        </a:spcBef>
                        <a:spcAft>
                          <a:spcPts val="0"/>
                        </a:spcAft>
                        <a:buNone/>
                      </a:pPr>
                      <a:r>
                        <a:rPr sz="1250" b="0" i="0">
                          <a:solidFill>
                            <a:srgbClr val="0F172A"/>
                          </a:solidFill>
                          <a:latin typeface="Calibri"/>
                        </a:rPr>
                        <a:t>Auto-generated docs; free hosting</a:t>
                      </a:r>
                    </a:p>
                  </a:txBody>
                  <a:tcPr anchor="ctr" marT="25400" marB="25400" marL="101600" marR="101600">
                    <a:solidFill>
                      <a:srgbClr val="FFFFFF"/>
                    </a:solidFill>
                  </a:tcPr>
                </a:tc>
              </a:tr>
            </a:tbl>
          </a:graphicData>
        </a:graphic>
      </p:graphicFrame>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DESIGN</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System Architecture</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itecture-diagram.png"/>
          <p:cNvPicPr>
            <a:picLocks noChangeAspect="1"/>
          </p:cNvPicPr>
          <p:nvPr/>
        </p:nvPicPr>
        <p:blipFill>
          <a:blip r:embed="rId2"/>
          <a:stretch>
            <a:fillRect/>
          </a:stretch>
        </p:blipFill>
        <p:spPr>
          <a:xfrm>
            <a:off x="2843992" y="1783080"/>
            <a:ext cx="6473536" cy="4069080"/>
          </a:xfrm>
          <a:prstGeom prst="rect">
            <a:avLst/>
          </a:prstGeom>
          <a:effectLst/>
        </p:spPr>
      </p:pic>
      <p:sp>
        <p:nvSpPr>
          <p:cNvPr id="7" name="TextBox 6"/>
          <p:cNvSpPr txBox="1"/>
          <p:nvPr/>
        </p:nvSpPr>
        <p:spPr>
          <a:xfrm>
            <a:off x="640080" y="5989320"/>
            <a:ext cx="10881360" cy="411480"/>
          </a:xfrm>
          <a:prstGeom prst="rect">
            <a:avLst/>
          </a:prstGeom>
          <a:noFill/>
        </p:spPr>
        <p:txBody>
          <a:bodyPr wrap="square" anchor="t" lIns="0" rIns="0" tIns="0" bIns="0">
            <a:spAutoFit/>
          </a:bodyPr>
          <a:lstStyle/>
          <a:p>
            <a:pPr algn="ctr">
              <a:spcBef>
                <a:spcPts val="0"/>
              </a:spcBef>
              <a:spcAft>
                <a:spcPts val="0"/>
              </a:spcAft>
              <a:buNone/>
            </a:pPr>
            <a:r>
              <a:rPr sz="1250" b="0" i="1">
                <a:solidFill>
                  <a:srgbClr val="64748B"/>
                </a:solidFill>
                <a:latin typeface="Calibri"/>
              </a:rPr>
              <a:t>Three-tier architecture: browser front-end  -&gt;  Flask REST API + SSE  -&gt;  SQLite database (same origin).</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DATA</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Database Design</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r-diagram.png"/>
          <p:cNvPicPr>
            <a:picLocks noChangeAspect="1"/>
          </p:cNvPicPr>
          <p:nvPr/>
        </p:nvPicPr>
        <p:blipFill>
          <a:blip r:embed="rId2"/>
          <a:stretch>
            <a:fillRect/>
          </a:stretch>
        </p:blipFill>
        <p:spPr>
          <a:xfrm>
            <a:off x="3313786" y="1783080"/>
            <a:ext cx="5533948" cy="4069079"/>
          </a:xfrm>
          <a:prstGeom prst="rect">
            <a:avLst/>
          </a:prstGeom>
          <a:effectLst/>
        </p:spPr>
      </p:pic>
      <p:sp>
        <p:nvSpPr>
          <p:cNvPr id="7" name="TextBox 6"/>
          <p:cNvSpPr txBox="1"/>
          <p:nvPr/>
        </p:nvSpPr>
        <p:spPr>
          <a:xfrm>
            <a:off x="640080" y="5989320"/>
            <a:ext cx="10881360" cy="411480"/>
          </a:xfrm>
          <a:prstGeom prst="rect">
            <a:avLst/>
          </a:prstGeom>
          <a:noFill/>
        </p:spPr>
        <p:txBody>
          <a:bodyPr wrap="square" anchor="t" lIns="0" rIns="0" tIns="0" bIns="0">
            <a:spAutoFit/>
          </a:bodyPr>
          <a:lstStyle/>
          <a:p>
            <a:pPr algn="ctr">
              <a:spcBef>
                <a:spcPts val="0"/>
              </a:spcBef>
              <a:spcAft>
                <a:spcPts val="0"/>
              </a:spcAft>
              <a:buNone/>
            </a:pPr>
            <a:r>
              <a:rPr sz="1250" b="0" i="1">
                <a:solidFill>
                  <a:srgbClr val="64748B"/>
                </a:solidFill>
                <a:latin typeface="Calibri"/>
              </a:rPr>
              <a:t>Core tables: users, production_records, maintenance_logs, downtime_events, machines, thresholds, activity_logs.</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SECURITY</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User Roles &amp; Access Control</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874519"/>
          <a:ext cx="10881360" cy="2139696"/>
        </p:xfrm>
        <a:graphic>
          <a:graphicData uri="http://schemas.openxmlformats.org/drawingml/2006/table">
            <a:tbl>
              <a:tblPr firstRow="1" bandRow="1">
                <a:tableStyleId>{5C22544A-7EE6-4342-B048-85BDC9FD1C3A}</a:tableStyleId>
              </a:tblPr>
              <a:tblGrid>
                <a:gridCol w="2743200"/>
                <a:gridCol w="8138160"/>
              </a:tblGrid>
              <a:tr h="427939">
                <a:tc>
                  <a:txBody>
                    <a:bodyPr wrap="square"/>
                    <a:lstStyle/>
                    <a:p>
                      <a:pPr algn="l">
                        <a:spcBef>
                          <a:spcPts val="0"/>
                        </a:spcBef>
                        <a:spcAft>
                          <a:spcPts val="0"/>
                        </a:spcAft>
                        <a:buNone/>
                      </a:pPr>
                      <a:r>
                        <a:rPr sz="1450" b="1" i="0">
                          <a:solidFill>
                            <a:srgbClr val="FFFFFF"/>
                          </a:solidFill>
                          <a:latin typeface="Calibri"/>
                        </a:rPr>
                        <a:t>Role</a:t>
                      </a:r>
                    </a:p>
                  </a:txBody>
                  <a:tcPr anchor="ctr" marT="38100" marB="38100" marL="101600" marR="101600">
                    <a:solidFill>
                      <a:srgbClr val="0F2A47"/>
                    </a:solidFill>
                  </a:tcPr>
                </a:tc>
                <a:tc>
                  <a:txBody>
                    <a:bodyPr wrap="square"/>
                    <a:lstStyle/>
                    <a:p>
                      <a:pPr algn="l">
                        <a:spcBef>
                          <a:spcPts val="0"/>
                        </a:spcBef>
                        <a:spcAft>
                          <a:spcPts val="0"/>
                        </a:spcAft>
                        <a:buNone/>
                      </a:pPr>
                      <a:r>
                        <a:rPr sz="1450" b="1" i="0">
                          <a:solidFill>
                            <a:srgbClr val="FFFFFF"/>
                          </a:solidFill>
                          <a:latin typeface="Calibri"/>
                        </a:rPr>
                        <a:t>Representative permissions</a:t>
                      </a:r>
                    </a:p>
                  </a:txBody>
                  <a:tcPr anchor="ctr" marT="38100" marB="38100" marL="101600" marR="101600">
                    <a:solidFill>
                      <a:srgbClr val="0F2A47"/>
                    </a:solidFill>
                  </a:tcPr>
                </a:tc>
              </a:tr>
              <a:tr h="427939">
                <a:tc>
                  <a:txBody>
                    <a:bodyPr wrap="square"/>
                    <a:lstStyle/>
                    <a:p>
                      <a:pPr algn="l">
                        <a:spcBef>
                          <a:spcPts val="0"/>
                        </a:spcBef>
                        <a:spcAft>
                          <a:spcPts val="0"/>
                        </a:spcAft>
                        <a:buNone/>
                      </a:pPr>
                      <a:r>
                        <a:rPr sz="1400" b="1" i="0">
                          <a:solidFill>
                            <a:srgbClr val="0F2A47"/>
                          </a:solidFill>
                          <a:latin typeface="Calibri"/>
                        </a:rPr>
                        <a:t>Administrator</a:t>
                      </a:r>
                    </a:p>
                  </a:txBody>
                  <a:tcPr anchor="ctr" marT="25400" marB="25400" marL="101600" marR="101600">
                    <a:solidFill>
                      <a:srgbClr val="FFFFFF"/>
                    </a:solidFill>
                  </a:tcPr>
                </a:tc>
                <a:tc>
                  <a:txBody>
                    <a:bodyPr wrap="square"/>
                    <a:lstStyle/>
                    <a:p>
                      <a:pPr algn="l">
                        <a:spcBef>
                          <a:spcPts val="0"/>
                        </a:spcBef>
                        <a:spcAft>
                          <a:spcPts val="0"/>
                        </a:spcAft>
                        <a:buNone/>
                      </a:pPr>
                      <a:r>
                        <a:rPr sz="1400" b="0" i="0">
                          <a:solidFill>
                            <a:srgbClr val="0F172A"/>
                          </a:solidFill>
                          <a:latin typeface="Calibri"/>
                        </a:rPr>
                        <a:t>Full access; manage users, machines &amp; thresholds; view audit log</a:t>
                      </a:r>
                    </a:p>
                  </a:txBody>
                  <a:tcPr anchor="ctr" marT="25400" marB="25400" marL="101600" marR="101600">
                    <a:solidFill>
                      <a:srgbClr val="FFFFFF"/>
                    </a:solidFill>
                  </a:tcPr>
                </a:tc>
              </a:tr>
              <a:tr h="427939">
                <a:tc>
                  <a:txBody>
                    <a:bodyPr wrap="square"/>
                    <a:lstStyle/>
                    <a:p>
                      <a:pPr algn="l">
                        <a:spcBef>
                          <a:spcPts val="0"/>
                        </a:spcBef>
                        <a:spcAft>
                          <a:spcPts val="0"/>
                        </a:spcAft>
                        <a:buNone/>
                      </a:pPr>
                      <a:r>
                        <a:rPr sz="1400" b="1" i="0">
                          <a:solidFill>
                            <a:srgbClr val="0F2A47"/>
                          </a:solidFill>
                          <a:latin typeface="Calibri"/>
                        </a:rPr>
                        <a:t>Plant Manager</a:t>
                      </a:r>
                    </a:p>
                  </a:txBody>
                  <a:tcPr anchor="ctr" marT="25400" marB="25400" marL="101600" marR="101600">
                    <a:solidFill>
                      <a:srgbClr val="F1F5F9"/>
                    </a:solidFill>
                  </a:tcPr>
                </a:tc>
                <a:tc>
                  <a:txBody>
                    <a:bodyPr wrap="square"/>
                    <a:lstStyle/>
                    <a:p>
                      <a:pPr algn="l">
                        <a:spcBef>
                          <a:spcPts val="0"/>
                        </a:spcBef>
                        <a:spcAft>
                          <a:spcPts val="0"/>
                        </a:spcAft>
                        <a:buNone/>
                      </a:pPr>
                      <a:r>
                        <a:rPr sz="1400" b="0" i="0">
                          <a:solidFill>
                            <a:srgbClr val="0F172A"/>
                          </a:solidFill>
                          <a:latin typeface="Calibri"/>
                        </a:rPr>
                        <a:t>View all dashboards &amp; reports; oversee production, OEE and downtime</a:t>
                      </a:r>
                    </a:p>
                  </a:txBody>
                  <a:tcPr anchor="ctr" marT="25400" marB="25400" marL="101600" marR="101600">
                    <a:solidFill>
                      <a:srgbClr val="F1F5F9"/>
                    </a:solidFill>
                  </a:tcPr>
                </a:tc>
              </a:tr>
              <a:tr h="427939">
                <a:tc>
                  <a:txBody>
                    <a:bodyPr wrap="square"/>
                    <a:lstStyle/>
                    <a:p>
                      <a:pPr algn="l">
                        <a:spcBef>
                          <a:spcPts val="0"/>
                        </a:spcBef>
                        <a:spcAft>
                          <a:spcPts val="0"/>
                        </a:spcAft>
                        <a:buNone/>
                      </a:pPr>
                      <a:r>
                        <a:rPr sz="1400" b="1" i="0">
                          <a:solidFill>
                            <a:srgbClr val="0F2A47"/>
                          </a:solidFill>
                          <a:latin typeface="Calibri"/>
                        </a:rPr>
                        <a:t>Shift Supervisor</a:t>
                      </a:r>
                    </a:p>
                  </a:txBody>
                  <a:tcPr anchor="ctr" marT="25400" marB="25400" marL="101600" marR="101600">
                    <a:solidFill>
                      <a:srgbClr val="FFFFFF"/>
                    </a:solidFill>
                  </a:tcPr>
                </a:tc>
                <a:tc>
                  <a:txBody>
                    <a:bodyPr wrap="square"/>
                    <a:lstStyle/>
                    <a:p>
                      <a:pPr algn="l">
                        <a:spcBef>
                          <a:spcPts val="0"/>
                        </a:spcBef>
                        <a:spcAft>
                          <a:spcPts val="0"/>
                        </a:spcAft>
                        <a:buNone/>
                      </a:pPr>
                      <a:r>
                        <a:rPr sz="1400" b="0" i="0">
                          <a:solidFill>
                            <a:srgbClr val="0F172A"/>
                          </a:solidFill>
                          <a:latin typeface="Calibri"/>
                        </a:rPr>
                        <a:t>Log production, downtime and maintenance for their shift</a:t>
                      </a:r>
                    </a:p>
                  </a:txBody>
                  <a:tcPr anchor="ctr" marT="25400" marB="25400" marL="101600" marR="101600">
                    <a:solidFill>
                      <a:srgbClr val="FFFFFF"/>
                    </a:solidFill>
                  </a:tcPr>
                </a:tc>
              </a:tr>
              <a:tr h="427940">
                <a:tc>
                  <a:txBody>
                    <a:bodyPr wrap="square"/>
                    <a:lstStyle/>
                    <a:p>
                      <a:pPr algn="l">
                        <a:spcBef>
                          <a:spcPts val="0"/>
                        </a:spcBef>
                        <a:spcAft>
                          <a:spcPts val="0"/>
                        </a:spcAft>
                        <a:buNone/>
                      </a:pPr>
                      <a:r>
                        <a:rPr sz="1400" b="1" i="0">
                          <a:solidFill>
                            <a:srgbClr val="0F2A47"/>
                          </a:solidFill>
                          <a:latin typeface="Calibri"/>
                        </a:rPr>
                        <a:t>Machine Operator</a:t>
                      </a:r>
                    </a:p>
                  </a:txBody>
                  <a:tcPr anchor="ctr" marT="25400" marB="25400" marL="101600" marR="101600">
                    <a:solidFill>
                      <a:srgbClr val="F1F5F9"/>
                    </a:solidFill>
                  </a:tcPr>
                </a:tc>
                <a:tc>
                  <a:txBody>
                    <a:bodyPr wrap="square"/>
                    <a:lstStyle/>
                    <a:p>
                      <a:pPr algn="l">
                        <a:spcBef>
                          <a:spcPts val="0"/>
                        </a:spcBef>
                        <a:spcAft>
                          <a:spcPts val="0"/>
                        </a:spcAft>
                        <a:buNone/>
                      </a:pPr>
                      <a:r>
                        <a:rPr sz="1400" b="0" i="0">
                          <a:solidFill>
                            <a:srgbClr val="0F172A"/>
                          </a:solidFill>
                          <a:latin typeface="Calibri"/>
                        </a:rPr>
                        <a:t>Enter production &amp; quality readings; view machine status &amp; alerts</a:t>
                      </a:r>
                    </a:p>
                  </a:txBody>
                  <a:tcPr anchor="ctr" marT="25400" marB="25400" marL="101600" marR="101600">
                    <a:solidFill>
                      <a:srgbClr val="F1F5F9"/>
                    </a:solidFill>
                  </a:tcPr>
                </a:tc>
              </a:tr>
            </a:tbl>
          </a:graphicData>
        </a:graphic>
      </p:graphicFrame>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FUNCTIONALITY</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Modules &amp; Key Features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1" i="0">
                <a:solidFill>
                  <a:srgbClr val="0F172A"/>
                </a:solidFill>
                <a:latin typeface="Calibri"/>
              </a:rPr>
              <a:t>Dashboard</a:t>
            </a:r>
            <a:r>
              <a:rPr sz="1800" b="0" i="0">
                <a:solidFill>
                  <a:srgbClr val="0F172A"/>
                </a:solidFill>
                <a:latin typeface="Calibri"/>
              </a:rPr>
              <a:t> - KPI cards (incl. average OEE), production-trend &amp; machine-status charts, live feed.</a:t>
            </a:r>
          </a:p>
          <a:p>
            <a:pPr algn="l" indent="-228600" marL="228600">
              <a:spcBef>
                <a:spcPts val="0"/>
              </a:spcBef>
              <a:spcAft>
                <a:spcPts val="1000"/>
              </a:spcAft>
              <a:buFont typeface="Arial"/>
              <a:buChar char="•"/>
            </a:pPr>
            <a:r>
              <a:rPr sz="1800" b="1" i="0">
                <a:solidFill>
                  <a:srgbClr val="0F172A"/>
                </a:solidFill>
                <a:latin typeface="Calibri"/>
              </a:rPr>
              <a:t>Production</a:t>
            </a:r>
            <a:r>
              <a:rPr sz="1800" b="0" i="0">
                <a:solidFill>
                  <a:srgbClr val="0F172A"/>
                </a:solidFill>
                <a:latin typeface="Calibri"/>
              </a:rPr>
              <a:t> - record output and </a:t>
            </a:r>
            <a:r>
              <a:rPr sz="1800" b="1" i="0">
                <a:solidFill>
                  <a:srgbClr val="0F172A"/>
                </a:solidFill>
                <a:latin typeface="Calibri"/>
              </a:rPr>
              <a:t>GSM / moisture / speed</a:t>
            </a:r>
            <a:r>
              <a:rPr sz="1800" b="0" i="0">
                <a:solidFill>
                  <a:srgbClr val="0F172A"/>
                </a:solidFill>
                <a:latin typeface="Calibri"/>
              </a:rPr>
              <a:t>; out-of-spec values flagged.</a:t>
            </a:r>
          </a:p>
          <a:p>
            <a:pPr algn="l" indent="-228600" marL="228600">
              <a:spcBef>
                <a:spcPts val="0"/>
              </a:spcBef>
              <a:spcAft>
                <a:spcPts val="1000"/>
              </a:spcAft>
              <a:buFont typeface="Arial"/>
              <a:buChar char="•"/>
            </a:pPr>
            <a:r>
              <a:rPr sz="1800" b="1" i="0">
                <a:solidFill>
                  <a:srgbClr val="0F172A"/>
                </a:solidFill>
                <a:latin typeface="Calibri"/>
              </a:rPr>
              <a:t>Machines</a:t>
            </a:r>
            <a:r>
              <a:rPr sz="1800" b="0" i="0">
                <a:solidFill>
                  <a:srgbClr val="0F172A"/>
                </a:solidFill>
                <a:latin typeface="Calibri"/>
              </a:rPr>
              <a:t> - colour-coded status board (Running / Idle / Stopped / Maintenance) with live temperature &amp; efficiency.</a:t>
            </a:r>
          </a:p>
          <a:p>
            <a:pPr algn="l" indent="-228600" marL="228600">
              <a:spcBef>
                <a:spcPts val="0"/>
              </a:spcBef>
              <a:spcAft>
                <a:spcPts val="1000"/>
              </a:spcAft>
              <a:buFont typeface="Arial"/>
              <a:buChar char="•"/>
            </a:pPr>
            <a:r>
              <a:rPr sz="1800" b="1" i="0">
                <a:solidFill>
                  <a:srgbClr val="0F172A"/>
                </a:solidFill>
                <a:latin typeface="Calibri"/>
              </a:rPr>
              <a:t>Maintenance &amp; Downtime</a:t>
            </a:r>
            <a:r>
              <a:rPr sz="1800" b="0" i="0">
                <a:solidFill>
                  <a:srgbClr val="0F172A"/>
                </a:solidFill>
                <a:latin typeface="Calibri"/>
              </a:rPr>
              <a:t> - log and track jobs by priority/status; capture stoppages with auto-computed duration.</a:t>
            </a:r>
          </a:p>
          <a:p>
            <a:pPr algn="l" indent="-228600" marL="228600">
              <a:spcBef>
                <a:spcPts val="0"/>
              </a:spcBef>
              <a:spcAft>
                <a:spcPts val="1000"/>
              </a:spcAft>
              <a:buFont typeface="Arial"/>
              <a:buChar char="•"/>
            </a:pPr>
            <a:r>
              <a:rPr sz="1800" b="1" i="0">
                <a:solidFill>
                  <a:srgbClr val="0F172A"/>
                </a:solidFill>
                <a:latin typeface="Calibri"/>
              </a:rPr>
              <a:t>Reports, Alerts, Settings &amp; Admin</a:t>
            </a:r>
            <a:r>
              <a:rPr sz="1800" b="0" i="0">
                <a:solidFill>
                  <a:srgbClr val="0F172A"/>
                </a:solidFill>
                <a:latin typeface="Calibri"/>
              </a:rPr>
              <a:t> - filtered reports with CSV/PDF export, threshold alerts, dark mode, and user/machine/threshold management.</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LIVE</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Real-Time Monitoring</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The server </a:t>
            </a:r>
            <a:r>
              <a:rPr sz="1800" b="1" i="0">
                <a:solidFill>
                  <a:srgbClr val="0F172A"/>
                </a:solidFill>
                <a:latin typeface="Calibri"/>
              </a:rPr>
              <a:t>pushes live readings</a:t>
            </a:r>
            <a:r>
              <a:rPr sz="1800" b="0" i="0">
                <a:solidFill>
                  <a:srgbClr val="0F172A"/>
                </a:solidFill>
                <a:latin typeface="Calibri"/>
              </a:rPr>
              <a:t> (temperature, efficiency) to every open page using </a:t>
            </a:r>
            <a:r>
              <a:rPr sz="1800" b="1" i="0">
                <a:solidFill>
                  <a:srgbClr val="0F172A"/>
                </a:solidFill>
                <a:latin typeface="Calibri"/>
              </a:rPr>
              <a:t>Server-Sent Events</a:t>
            </a:r>
            <a:r>
              <a:rPr sz="1800" b="0" i="0">
                <a:solidFill>
                  <a:srgbClr val="0F172A"/>
                </a:solidFill>
                <a:latin typeface="Calibri"/>
              </a:rPr>
              <a:t> over an authenticated stream.</a:t>
            </a:r>
          </a:p>
          <a:p>
            <a:pPr algn="l" indent="-228600" marL="228600">
              <a:spcBef>
                <a:spcPts val="0"/>
              </a:spcBef>
              <a:spcAft>
                <a:spcPts val="1000"/>
              </a:spcAft>
              <a:buFont typeface="Arial"/>
              <a:buChar char="•"/>
            </a:pPr>
            <a:r>
              <a:rPr sz="1800" b="0" i="0">
                <a:solidFill>
                  <a:srgbClr val="0F172A"/>
                </a:solidFill>
                <a:latin typeface="Calibri"/>
              </a:rPr>
              <a:t>Machine cards and the dashboard's live indicator </a:t>
            </a:r>
            <a:r>
              <a:rPr sz="1800" b="1" i="0">
                <a:solidFill>
                  <a:srgbClr val="0F172A"/>
                </a:solidFill>
                <a:latin typeface="Calibri"/>
              </a:rPr>
              <a:t>update every few seconds</a:t>
            </a:r>
            <a:r>
              <a:rPr sz="1800" b="0" i="0">
                <a:solidFill>
                  <a:srgbClr val="0F172A"/>
                </a:solidFill>
                <a:latin typeface="Calibri"/>
              </a:rPr>
              <a:t> without reloading the page; a 'Live' timestamp shows freshness.</a:t>
            </a:r>
          </a:p>
          <a:p>
            <a:pPr algn="l" indent="-228600" marL="228600">
              <a:spcBef>
                <a:spcPts val="0"/>
              </a:spcBef>
              <a:spcAft>
                <a:spcPts val="1000"/>
              </a:spcAft>
              <a:buFont typeface="Arial"/>
              <a:buChar char="•"/>
            </a:pPr>
            <a:r>
              <a:rPr sz="1800" b="1" i="0">
                <a:solidFill>
                  <a:srgbClr val="0F172A"/>
                </a:solidFill>
                <a:latin typeface="Calibri"/>
              </a:rPr>
              <a:t>KPIs, reports and alerts are API-driven:</a:t>
            </a:r>
            <a:r>
              <a:rPr sz="1800" b="0" i="0">
                <a:solidFill>
                  <a:srgbClr val="0F172A"/>
                </a:solidFill>
                <a:latin typeface="Calibri"/>
              </a:rPr>
              <a:t> records entered through the app immediately feed the dashboard KPIs, the daily report and the alerts list.</a:t>
            </a:r>
          </a:p>
          <a:p>
            <a:pPr algn="l" indent="-228600" marL="228600">
              <a:spcBef>
                <a:spcPts val="0"/>
              </a:spcBef>
              <a:spcAft>
                <a:spcPts val="1000"/>
              </a:spcAft>
              <a:buFont typeface="Arial"/>
              <a:buChar char="•"/>
            </a:pPr>
            <a:r>
              <a:rPr sz="1800" b="0" i="0">
                <a:solidFill>
                  <a:srgbClr val="0F172A"/>
                </a:solidFill>
                <a:latin typeface="Calibri"/>
              </a:rPr>
              <a:t>Pages </a:t>
            </a:r>
            <a:r>
              <a:rPr sz="1800" b="1" i="0">
                <a:solidFill>
                  <a:srgbClr val="0F172A"/>
                </a:solidFill>
                <a:latin typeface="Calibri"/>
              </a:rPr>
              <a:t>degrade gracefully</a:t>
            </a:r>
            <a:r>
              <a:rPr sz="1800" b="0" i="0">
                <a:solidFill>
                  <a:srgbClr val="0F172A"/>
                </a:solidFill>
                <a:latin typeface="Calibri"/>
              </a:rPr>
              <a:t> - if the backend is unavailable they fall back to a seeded demonstration dataset, so the UI never breaks.</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ANALYTICS</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Quality, OEE &amp; Alerts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Every production record carries </a:t>
            </a:r>
            <a:r>
              <a:rPr sz="1800" b="1" i="0">
                <a:solidFill>
                  <a:srgbClr val="0F172A"/>
                </a:solidFill>
                <a:latin typeface="Calibri"/>
              </a:rPr>
              <a:t>quality readings - GSM, moisture and machine speed</a:t>
            </a:r>
            <a:r>
              <a:rPr sz="1800" b="0" i="0">
                <a:solidFill>
                  <a:srgbClr val="0F172A"/>
                </a:solidFill>
                <a:latin typeface="Calibri"/>
              </a:rPr>
              <a:t> - validated against configurable limits.</a:t>
            </a:r>
          </a:p>
          <a:p>
            <a:pPr algn="l" indent="-228600" marL="228600">
              <a:spcBef>
                <a:spcPts val="0"/>
              </a:spcBef>
              <a:spcAft>
                <a:spcPts val="1000"/>
              </a:spcAft>
              <a:buFont typeface="Arial"/>
              <a:buChar char="•"/>
            </a:pPr>
            <a:r>
              <a:rPr sz="1800" b="1" i="0">
                <a:solidFill>
                  <a:srgbClr val="0F172A"/>
                </a:solidFill>
                <a:latin typeface="Calibri"/>
              </a:rPr>
              <a:t>Thresholds:</a:t>
            </a:r>
            <a:r>
              <a:rPr sz="1800" b="0" i="0">
                <a:solidFill>
                  <a:srgbClr val="0F172A"/>
                </a:solidFill>
                <a:latin typeface="Calibri"/>
              </a:rPr>
              <a:t> GSM 45-120, moisture &lt;= 6.5%, temperature &lt;= 88 deg C, efficiency &gt;= 75%, downtime &lt;= 60 min (all admin-editable).</a:t>
            </a:r>
          </a:p>
          <a:p>
            <a:pPr algn="l" indent="-228600" marL="228600">
              <a:spcBef>
                <a:spcPts val="0"/>
              </a:spcBef>
              <a:spcAft>
                <a:spcPts val="1000"/>
              </a:spcAft>
              <a:buFont typeface="Arial"/>
              <a:buChar char="•"/>
            </a:pPr>
            <a:r>
              <a:rPr sz="1800" b="1" i="0">
                <a:solidFill>
                  <a:srgbClr val="0F172A"/>
                </a:solidFill>
                <a:latin typeface="Calibri"/>
              </a:rPr>
              <a:t>OEE = Availability x Performance x Quality</a:t>
            </a:r>
            <a:r>
              <a:rPr sz="1800" b="0" i="0">
                <a:solidFill>
                  <a:srgbClr val="0F172A"/>
                </a:solidFill>
                <a:latin typeface="Calibri"/>
              </a:rPr>
              <a:t> is computed and charted per machine.</a:t>
            </a:r>
          </a:p>
          <a:p>
            <a:pPr algn="l" indent="-228600" marL="228600">
              <a:spcBef>
                <a:spcPts val="0"/>
              </a:spcBef>
              <a:spcAft>
                <a:spcPts val="1000"/>
              </a:spcAft>
              <a:buFont typeface="Arial"/>
              <a:buChar char="•"/>
            </a:pPr>
            <a:r>
              <a:rPr sz="1800" b="1" i="0">
                <a:solidFill>
                  <a:srgbClr val="0F172A"/>
                </a:solidFill>
                <a:latin typeface="Calibri"/>
              </a:rPr>
              <a:t>Threshold-driven alerts</a:t>
            </a:r>
            <a:r>
              <a:rPr sz="1800" b="0" i="0">
                <a:solidFill>
                  <a:srgbClr val="0F172A"/>
                </a:solidFill>
                <a:latin typeface="Calibri"/>
              </a:rPr>
              <a:t> are raised automatically for out-of-spec GSM/moisture and over-limit downtime, with acknowledge &amp; severity filtering.</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WALKTHROUGH</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Dashboard</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png"/>
          <p:cNvPicPr>
            <a:picLocks noChangeAspect="1"/>
          </p:cNvPicPr>
          <p:nvPr/>
        </p:nvPicPr>
        <p:blipFill>
          <a:blip r:embed="rId2"/>
          <a:stretch>
            <a:fillRect/>
          </a:stretch>
        </p:blipFill>
        <p:spPr>
          <a:xfrm>
            <a:off x="2862072" y="1783080"/>
            <a:ext cx="6437376" cy="4023360"/>
          </a:xfrm>
          <a:prstGeom prst="rect">
            <a:avLst/>
          </a:prstGeom>
          <a:ln w="12700">
            <a:solidFill>
              <a:srgbClr val="E2E8F0"/>
            </a:solidFill>
          </a:ln>
          <a:effectLst/>
        </p:spPr>
      </p:pic>
      <p:sp>
        <p:nvSpPr>
          <p:cNvPr id="7" name="TextBox 6"/>
          <p:cNvSpPr txBox="1"/>
          <p:nvPr/>
        </p:nvSpPr>
        <p:spPr>
          <a:xfrm>
            <a:off x="640080" y="5943600"/>
            <a:ext cx="10881360" cy="457200"/>
          </a:xfrm>
          <a:prstGeom prst="rect">
            <a:avLst/>
          </a:prstGeom>
          <a:noFill/>
        </p:spPr>
        <p:txBody>
          <a:bodyPr wrap="square" anchor="t" lIns="0" rIns="0" tIns="0" bIns="0">
            <a:spAutoFit/>
          </a:bodyPr>
          <a:lstStyle/>
          <a:p>
            <a:pPr algn="ctr">
              <a:spcBef>
                <a:spcPts val="0"/>
              </a:spcBef>
              <a:spcAft>
                <a:spcPts val="0"/>
              </a:spcAft>
              <a:buNone/>
            </a:pPr>
            <a:r>
              <a:rPr sz="1300" b="0" i="1">
                <a:solidFill>
                  <a:srgbClr val="64748B"/>
                </a:solidFill>
                <a:latin typeface="Calibri"/>
              </a:rPr>
              <a:t>Live production overview: KPI cards, production-trend and machine-status charts, and quick actions.</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WALKTHROUGH</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Machine Monitoring</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chines.png"/>
          <p:cNvPicPr>
            <a:picLocks noChangeAspect="1"/>
          </p:cNvPicPr>
          <p:nvPr/>
        </p:nvPicPr>
        <p:blipFill>
          <a:blip r:embed="rId2"/>
          <a:stretch>
            <a:fillRect/>
          </a:stretch>
        </p:blipFill>
        <p:spPr>
          <a:xfrm>
            <a:off x="2862072" y="1783080"/>
            <a:ext cx="6437376" cy="4023360"/>
          </a:xfrm>
          <a:prstGeom prst="rect">
            <a:avLst/>
          </a:prstGeom>
          <a:ln w="12700">
            <a:solidFill>
              <a:srgbClr val="E2E8F0"/>
            </a:solidFill>
          </a:ln>
          <a:effectLst/>
        </p:spPr>
      </p:pic>
      <p:sp>
        <p:nvSpPr>
          <p:cNvPr id="7" name="TextBox 6"/>
          <p:cNvSpPr txBox="1"/>
          <p:nvPr/>
        </p:nvSpPr>
        <p:spPr>
          <a:xfrm>
            <a:off x="640080" y="5943600"/>
            <a:ext cx="10881360" cy="457200"/>
          </a:xfrm>
          <a:prstGeom prst="rect">
            <a:avLst/>
          </a:prstGeom>
          <a:noFill/>
        </p:spPr>
        <p:txBody>
          <a:bodyPr wrap="square" anchor="t" lIns="0" rIns="0" tIns="0" bIns="0">
            <a:spAutoFit/>
          </a:bodyPr>
          <a:lstStyle/>
          <a:p>
            <a:pPr algn="ctr">
              <a:spcBef>
                <a:spcPts val="0"/>
              </a:spcBef>
              <a:spcAft>
                <a:spcPts val="0"/>
              </a:spcAft>
              <a:buNone/>
            </a:pPr>
            <a:r>
              <a:rPr sz="1300" b="0" i="1">
                <a:solidFill>
                  <a:srgbClr val="64748B"/>
                </a:solidFill>
                <a:latin typeface="Calibri"/>
              </a:rPr>
              <a:t>Colour-coded status board - Running / Idle / Stopped / Maintenance - with live temperature &amp; efficiency.</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WALKTHROUGH</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Reports &amp; Analytics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ports.png"/>
          <p:cNvPicPr>
            <a:picLocks noChangeAspect="1"/>
          </p:cNvPicPr>
          <p:nvPr/>
        </p:nvPicPr>
        <p:blipFill>
          <a:blip r:embed="rId2"/>
          <a:stretch>
            <a:fillRect/>
          </a:stretch>
        </p:blipFill>
        <p:spPr>
          <a:xfrm>
            <a:off x="2862072" y="1783080"/>
            <a:ext cx="6437376" cy="4023360"/>
          </a:xfrm>
          <a:prstGeom prst="rect">
            <a:avLst/>
          </a:prstGeom>
          <a:ln w="12700">
            <a:solidFill>
              <a:srgbClr val="E2E8F0"/>
            </a:solidFill>
          </a:ln>
          <a:effectLst/>
        </p:spPr>
      </p:pic>
      <p:sp>
        <p:nvSpPr>
          <p:cNvPr id="7" name="TextBox 6"/>
          <p:cNvSpPr txBox="1"/>
          <p:nvPr/>
        </p:nvSpPr>
        <p:spPr>
          <a:xfrm>
            <a:off x="640080" y="5943600"/>
            <a:ext cx="10881360" cy="457200"/>
          </a:xfrm>
          <a:prstGeom prst="rect">
            <a:avLst/>
          </a:prstGeom>
          <a:noFill/>
        </p:spPr>
        <p:txBody>
          <a:bodyPr wrap="square" anchor="t" lIns="0" rIns="0" tIns="0" bIns="0">
            <a:spAutoFit/>
          </a:bodyPr>
          <a:lstStyle/>
          <a:p>
            <a:pPr algn="ctr">
              <a:spcBef>
                <a:spcPts val="0"/>
              </a:spcBef>
              <a:spcAft>
                <a:spcPts val="0"/>
              </a:spcAft>
              <a:buNone/>
            </a:pPr>
            <a:r>
              <a:rPr sz="1300" b="0" i="1">
                <a:solidFill>
                  <a:srgbClr val="64748B"/>
                </a:solidFill>
                <a:latin typeface="Calibri"/>
              </a:rPr>
              <a:t>Period / machine / shift filters, plant OEE, downtime breakdown, and CSV / PDF export.</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WALKTHROUGH</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Production Entry &amp; Alerts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oduction.png"/>
          <p:cNvPicPr>
            <a:picLocks noChangeAspect="1"/>
          </p:cNvPicPr>
          <p:nvPr/>
        </p:nvPicPr>
        <p:blipFill>
          <a:blip r:embed="rId2"/>
          <a:stretch>
            <a:fillRect/>
          </a:stretch>
        </p:blipFill>
        <p:spPr>
          <a:xfrm>
            <a:off x="640080" y="1991676"/>
            <a:ext cx="5257800" cy="3286125"/>
          </a:xfrm>
          <a:prstGeom prst="rect">
            <a:avLst/>
          </a:prstGeom>
          <a:ln w="12700">
            <a:solidFill>
              <a:srgbClr val="E2E8F0"/>
            </a:solidFill>
          </a:ln>
          <a:effectLst/>
        </p:spPr>
      </p:pic>
      <p:sp>
        <p:nvSpPr>
          <p:cNvPr id="7" name="TextBox 6"/>
          <p:cNvSpPr txBox="1"/>
          <p:nvPr/>
        </p:nvSpPr>
        <p:spPr>
          <a:xfrm>
            <a:off x="640080" y="5532120"/>
            <a:ext cx="5257800" cy="640080"/>
          </a:xfrm>
          <a:prstGeom prst="rect">
            <a:avLst/>
          </a:prstGeom>
          <a:noFill/>
        </p:spPr>
        <p:txBody>
          <a:bodyPr wrap="square" anchor="t" lIns="0" rIns="0" tIns="0" bIns="0">
            <a:spAutoFit/>
          </a:bodyPr>
          <a:lstStyle/>
          <a:p>
            <a:pPr algn="ctr">
              <a:spcBef>
                <a:spcPts val="0"/>
              </a:spcBef>
              <a:spcAft>
                <a:spcPts val="0"/>
              </a:spcAft>
              <a:buNone/>
            </a:pPr>
            <a:r>
              <a:rPr sz="1250" b="0" i="1">
                <a:solidFill>
                  <a:srgbClr val="64748B"/>
                </a:solidFill>
                <a:latin typeface="Calibri"/>
              </a:rPr>
              <a:t>Production entry with GSM / moisture / speed quality capture.</a:t>
            </a:r>
          </a:p>
        </p:txBody>
      </p:sp>
      <p:pic>
        <p:nvPicPr>
          <p:cNvPr id="8" name="Picture 7" descr="alerts.png"/>
          <p:cNvPicPr>
            <a:picLocks noChangeAspect="1"/>
          </p:cNvPicPr>
          <p:nvPr/>
        </p:nvPicPr>
        <p:blipFill>
          <a:blip r:embed="rId3"/>
          <a:stretch>
            <a:fillRect/>
          </a:stretch>
        </p:blipFill>
        <p:spPr>
          <a:xfrm>
            <a:off x="6263640" y="1991676"/>
            <a:ext cx="5257800" cy="3286125"/>
          </a:xfrm>
          <a:prstGeom prst="rect">
            <a:avLst/>
          </a:prstGeom>
          <a:ln w="12700">
            <a:solidFill>
              <a:srgbClr val="E2E8F0"/>
            </a:solidFill>
          </a:ln>
          <a:effectLst/>
        </p:spPr>
      </p:pic>
      <p:sp>
        <p:nvSpPr>
          <p:cNvPr id="9" name="TextBox 8"/>
          <p:cNvSpPr txBox="1"/>
          <p:nvPr/>
        </p:nvSpPr>
        <p:spPr>
          <a:xfrm>
            <a:off x="6263640" y="5532120"/>
            <a:ext cx="5257800" cy="640080"/>
          </a:xfrm>
          <a:prstGeom prst="rect">
            <a:avLst/>
          </a:prstGeom>
          <a:noFill/>
        </p:spPr>
        <p:txBody>
          <a:bodyPr wrap="square" anchor="t" lIns="0" rIns="0" tIns="0" bIns="0">
            <a:spAutoFit/>
          </a:bodyPr>
          <a:lstStyle/>
          <a:p>
            <a:pPr algn="ctr">
              <a:spcBef>
                <a:spcPts val="0"/>
              </a:spcBef>
              <a:spcAft>
                <a:spcPts val="0"/>
              </a:spcAft>
              <a:buNone/>
            </a:pPr>
            <a:r>
              <a:rPr sz="1250" b="0" i="1">
                <a:solidFill>
                  <a:srgbClr val="64748B"/>
                </a:solidFill>
                <a:latin typeface="Calibri"/>
              </a:rPr>
              <a:t>Threshold-driven alerts with severity filtering and acknowledgement.</a:t>
            </a:r>
          </a:p>
        </p:txBody>
      </p:sp>
      <p:sp>
        <p:nvSpPr>
          <p:cNvPr id="10" name="TextBox 9"/>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11" name="TextBox 10"/>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PLAN</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Project Timeline</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meline-gantt.png"/>
          <p:cNvPicPr>
            <a:picLocks noChangeAspect="1"/>
          </p:cNvPicPr>
          <p:nvPr/>
        </p:nvPicPr>
        <p:blipFill>
          <a:blip r:embed="rId2"/>
          <a:stretch>
            <a:fillRect/>
          </a:stretch>
        </p:blipFill>
        <p:spPr>
          <a:xfrm>
            <a:off x="1737390" y="1783080"/>
            <a:ext cx="8686740" cy="4069080"/>
          </a:xfrm>
          <a:prstGeom prst="rect">
            <a:avLst/>
          </a:prstGeom>
          <a:effectLst/>
        </p:spPr>
      </p:pic>
      <p:sp>
        <p:nvSpPr>
          <p:cNvPr id="7" name="TextBox 6"/>
          <p:cNvSpPr txBox="1"/>
          <p:nvPr/>
        </p:nvSpPr>
        <p:spPr>
          <a:xfrm>
            <a:off x="640080" y="5989320"/>
            <a:ext cx="10881360" cy="411480"/>
          </a:xfrm>
          <a:prstGeom prst="rect">
            <a:avLst/>
          </a:prstGeom>
          <a:noFill/>
        </p:spPr>
        <p:txBody>
          <a:bodyPr wrap="square" anchor="t" lIns="0" rIns="0" tIns="0" bIns="0">
            <a:spAutoFit/>
          </a:bodyPr>
          <a:lstStyle/>
          <a:p>
            <a:pPr algn="ctr">
              <a:spcBef>
                <a:spcPts val="0"/>
              </a:spcBef>
              <a:spcAft>
                <a:spcPts val="0"/>
              </a:spcAft>
              <a:buNone/>
            </a:pPr>
            <a:r>
              <a:rPr sz="1250" b="0" i="1">
                <a:solidFill>
                  <a:srgbClr val="64748B"/>
                </a:solidFill>
                <a:latin typeface="Calibri"/>
              </a:rPr>
              <a:t>Phased delivery: requirements &amp; design  -&gt;  module build  -&gt;  backend &amp; security  -&gt;  testing, docs &amp; deployment.</a:t>
            </a:r>
          </a:p>
        </p:txBody>
      </p:sp>
      <p:sp>
        <p:nvSpPr>
          <p:cNvPr id="8" name="TextBox 7"/>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9" name="TextBox 8"/>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VERIFICATION</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Testing &amp; Quality Assurance</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874519"/>
          <a:ext cx="10881360" cy="2980944"/>
        </p:xfrm>
        <a:graphic>
          <a:graphicData uri="http://schemas.openxmlformats.org/drawingml/2006/table">
            <a:tbl>
              <a:tblPr firstRow="1" bandRow="1">
                <a:tableStyleId>{5C22544A-7EE6-4342-B048-85BDC9FD1C3A}</a:tableStyleId>
              </a:tblPr>
              <a:tblGrid>
                <a:gridCol w="3931920"/>
                <a:gridCol w="6949440"/>
              </a:tblGrid>
              <a:tr h="425849">
                <a:tc>
                  <a:txBody>
                    <a:bodyPr wrap="square"/>
                    <a:lstStyle/>
                    <a:p>
                      <a:pPr algn="l">
                        <a:spcBef>
                          <a:spcPts val="0"/>
                        </a:spcBef>
                        <a:spcAft>
                          <a:spcPts val="0"/>
                        </a:spcAft>
                        <a:buNone/>
                      </a:pPr>
                      <a:r>
                        <a:rPr sz="1400" b="1" i="0">
                          <a:solidFill>
                            <a:srgbClr val="FFFFFF"/>
                          </a:solidFill>
                          <a:latin typeface="Calibri"/>
                        </a:rPr>
                        <a:t>Test area</a:t>
                      </a:r>
                    </a:p>
                  </a:txBody>
                  <a:tcPr anchor="ctr" marT="38100" marB="38100" marL="101600" marR="101600">
                    <a:solidFill>
                      <a:srgbClr val="0F2A47"/>
                    </a:solidFill>
                  </a:tcPr>
                </a:tc>
                <a:tc>
                  <a:txBody>
                    <a:bodyPr wrap="square"/>
                    <a:lstStyle/>
                    <a:p>
                      <a:pPr algn="l">
                        <a:spcBef>
                          <a:spcPts val="0"/>
                        </a:spcBef>
                        <a:spcAft>
                          <a:spcPts val="0"/>
                        </a:spcAft>
                        <a:buNone/>
                      </a:pPr>
                      <a:r>
                        <a:rPr sz="1400" b="1" i="0">
                          <a:solidFill>
                            <a:srgbClr val="FFFFFF"/>
                          </a:solidFill>
                          <a:latin typeface="Calibri"/>
                        </a:rPr>
                        <a:t>Coverage</a:t>
                      </a:r>
                    </a:p>
                  </a:txBody>
                  <a:tcPr anchor="ctr" marT="38100" marB="38100" marL="101600" marR="101600">
                    <a:solidFill>
                      <a:srgbClr val="0F2A47"/>
                    </a:solidFill>
                  </a:tcPr>
                </a:tc>
              </a:tr>
              <a:tr h="425849">
                <a:tc>
                  <a:txBody>
                    <a:bodyPr wrap="square"/>
                    <a:lstStyle/>
                    <a:p>
                      <a:pPr algn="l">
                        <a:spcBef>
                          <a:spcPts val="0"/>
                        </a:spcBef>
                        <a:spcAft>
                          <a:spcPts val="0"/>
                        </a:spcAft>
                        <a:buNone/>
                      </a:pPr>
                      <a:r>
                        <a:rPr sz="1350" b="1" i="0">
                          <a:solidFill>
                            <a:srgbClr val="0F2A47"/>
                          </a:solidFill>
                          <a:latin typeface="Calibri"/>
                        </a:rPr>
                        <a:t>Authentication &amp; JWT</a:t>
                      </a:r>
                    </a:p>
                  </a:txBody>
                  <a:tcPr anchor="ctr" marT="25400" marB="25400" marL="101600" marR="101600">
                    <a:solidFill>
                      <a:srgbClr val="FFFFFF"/>
                    </a:solidFill>
                  </a:tcPr>
                </a:tc>
                <a:tc>
                  <a:txBody>
                    <a:bodyPr wrap="square"/>
                    <a:lstStyle/>
                    <a:p>
                      <a:pPr algn="l">
                        <a:spcBef>
                          <a:spcPts val="0"/>
                        </a:spcBef>
                        <a:spcAft>
                          <a:spcPts val="0"/>
                        </a:spcAft>
                        <a:buNone/>
                      </a:pPr>
                      <a:r>
                        <a:rPr sz="1350" b="0" i="0">
                          <a:solidFill>
                            <a:srgbClr val="0F172A"/>
                          </a:solidFill>
                          <a:latin typeface="Calibri"/>
                        </a:rPr>
                        <a:t>Valid/invalid login, token guard, expiry handling</a:t>
                      </a:r>
                    </a:p>
                  </a:txBody>
                  <a:tcPr anchor="ctr" marT="25400" marB="25400" marL="101600" marR="101600">
                    <a:solidFill>
                      <a:srgbClr val="FFFFFF"/>
                    </a:solidFill>
                  </a:tcPr>
                </a:tc>
              </a:tr>
              <a:tr h="425849">
                <a:tc>
                  <a:txBody>
                    <a:bodyPr wrap="square"/>
                    <a:lstStyle/>
                    <a:p>
                      <a:pPr algn="l">
                        <a:spcBef>
                          <a:spcPts val="0"/>
                        </a:spcBef>
                        <a:spcAft>
                          <a:spcPts val="0"/>
                        </a:spcAft>
                        <a:buNone/>
                      </a:pPr>
                      <a:r>
                        <a:rPr sz="1350" b="1" i="0">
                          <a:solidFill>
                            <a:srgbClr val="0F2A47"/>
                          </a:solidFill>
                          <a:latin typeface="Calibri"/>
                        </a:rPr>
                        <a:t>Role-based access control</a:t>
                      </a:r>
                    </a:p>
                  </a:txBody>
                  <a:tcPr anchor="ctr" marT="25400" marB="25400" marL="101600" marR="101600">
                    <a:solidFill>
                      <a:srgbClr val="F1F5F9"/>
                    </a:solidFill>
                  </a:tcPr>
                </a:tc>
                <a:tc>
                  <a:txBody>
                    <a:bodyPr wrap="square"/>
                    <a:lstStyle/>
                    <a:p>
                      <a:pPr algn="l">
                        <a:spcBef>
                          <a:spcPts val="0"/>
                        </a:spcBef>
                        <a:spcAft>
                          <a:spcPts val="0"/>
                        </a:spcAft>
                        <a:buNone/>
                      </a:pPr>
                      <a:r>
                        <a:rPr sz="1350" b="0" i="0">
                          <a:solidFill>
                            <a:srgbClr val="0F172A"/>
                          </a:solidFill>
                          <a:latin typeface="Calibri"/>
                        </a:rPr>
                        <a:t>Allowed vs. forbidden endpoints per role (403/200)</a:t>
                      </a:r>
                    </a:p>
                  </a:txBody>
                  <a:tcPr anchor="ctr" marT="25400" marB="25400" marL="101600" marR="101600">
                    <a:solidFill>
                      <a:srgbClr val="F1F5F9"/>
                    </a:solidFill>
                  </a:tcPr>
                </a:tc>
              </a:tr>
              <a:tr h="425849">
                <a:tc>
                  <a:txBody>
                    <a:bodyPr wrap="square"/>
                    <a:lstStyle/>
                    <a:p>
                      <a:pPr algn="l">
                        <a:spcBef>
                          <a:spcPts val="0"/>
                        </a:spcBef>
                        <a:spcAft>
                          <a:spcPts val="0"/>
                        </a:spcAft>
                        <a:buNone/>
                      </a:pPr>
                      <a:r>
                        <a:rPr sz="1350" b="1" i="0">
                          <a:solidFill>
                            <a:srgbClr val="0F2A47"/>
                          </a:solidFill>
                          <a:latin typeface="Calibri"/>
                        </a:rPr>
                        <a:t>Production / Maintenance / Downtime</a:t>
                      </a:r>
                    </a:p>
                  </a:txBody>
                  <a:tcPr anchor="ctr" marT="25400" marB="25400" marL="101600" marR="101600">
                    <a:solidFill>
                      <a:srgbClr val="FFFFFF"/>
                    </a:solidFill>
                  </a:tcPr>
                </a:tc>
                <a:tc>
                  <a:txBody>
                    <a:bodyPr wrap="square"/>
                    <a:lstStyle/>
                    <a:p>
                      <a:pPr algn="l">
                        <a:spcBef>
                          <a:spcPts val="0"/>
                        </a:spcBef>
                        <a:spcAft>
                          <a:spcPts val="0"/>
                        </a:spcAft>
                        <a:buNone/>
                      </a:pPr>
                      <a:r>
                        <a:rPr sz="1350" b="0" i="0">
                          <a:solidFill>
                            <a:srgbClr val="0F172A"/>
                          </a:solidFill>
                          <a:latin typeface="Calibri"/>
                        </a:rPr>
                        <a:t>Full create-read-update-delete + validation</a:t>
                      </a:r>
                    </a:p>
                  </a:txBody>
                  <a:tcPr anchor="ctr" marT="25400" marB="25400" marL="101600" marR="101600">
                    <a:solidFill>
                      <a:srgbClr val="FFFFFF"/>
                    </a:solidFill>
                  </a:tcPr>
                </a:tc>
              </a:tr>
              <a:tr h="425849">
                <a:tc>
                  <a:txBody>
                    <a:bodyPr wrap="square"/>
                    <a:lstStyle/>
                    <a:p>
                      <a:pPr algn="l">
                        <a:spcBef>
                          <a:spcPts val="0"/>
                        </a:spcBef>
                        <a:spcAft>
                          <a:spcPts val="0"/>
                        </a:spcAft>
                        <a:buNone/>
                      </a:pPr>
                      <a:r>
                        <a:rPr sz="1350" b="1" i="0">
                          <a:solidFill>
                            <a:srgbClr val="0F2A47"/>
                          </a:solidFill>
                          <a:latin typeface="Calibri"/>
                        </a:rPr>
                        <a:t>Quality &amp; thresholds</a:t>
                      </a:r>
                    </a:p>
                  </a:txBody>
                  <a:tcPr anchor="ctr" marT="25400" marB="25400" marL="101600" marR="101600">
                    <a:solidFill>
                      <a:srgbClr val="F1F5F9"/>
                    </a:solidFill>
                  </a:tcPr>
                </a:tc>
                <a:tc>
                  <a:txBody>
                    <a:bodyPr wrap="square"/>
                    <a:lstStyle/>
                    <a:p>
                      <a:pPr algn="l">
                        <a:spcBef>
                          <a:spcPts val="0"/>
                        </a:spcBef>
                        <a:spcAft>
                          <a:spcPts val="0"/>
                        </a:spcAft>
                        <a:buNone/>
                      </a:pPr>
                      <a:r>
                        <a:rPr sz="1350" b="0" i="0">
                          <a:solidFill>
                            <a:srgbClr val="0F172A"/>
                          </a:solidFill>
                          <a:latin typeface="Calibri"/>
                        </a:rPr>
                        <a:t>GSM / moisture / speed fields and limit checks</a:t>
                      </a:r>
                    </a:p>
                  </a:txBody>
                  <a:tcPr anchor="ctr" marT="25400" marB="25400" marL="101600" marR="101600">
                    <a:solidFill>
                      <a:srgbClr val="F1F5F9"/>
                    </a:solidFill>
                  </a:tcPr>
                </a:tc>
              </a:tr>
              <a:tr h="425849">
                <a:tc>
                  <a:txBody>
                    <a:bodyPr wrap="square"/>
                    <a:lstStyle/>
                    <a:p>
                      <a:pPr algn="l">
                        <a:spcBef>
                          <a:spcPts val="0"/>
                        </a:spcBef>
                        <a:spcAft>
                          <a:spcPts val="0"/>
                        </a:spcAft>
                        <a:buNone/>
                      </a:pPr>
                      <a:r>
                        <a:rPr sz="1350" b="1" i="0">
                          <a:solidFill>
                            <a:srgbClr val="0F2A47"/>
                          </a:solidFill>
                          <a:latin typeface="Calibri"/>
                        </a:rPr>
                        <a:t>Live stream &amp; audit</a:t>
                      </a:r>
                    </a:p>
                  </a:txBody>
                  <a:tcPr anchor="ctr" marT="25400" marB="25400" marL="101600" marR="101600">
                    <a:solidFill>
                      <a:srgbClr val="FFFFFF"/>
                    </a:solidFill>
                  </a:tcPr>
                </a:tc>
                <a:tc>
                  <a:txBody>
                    <a:bodyPr wrap="square"/>
                    <a:lstStyle/>
                    <a:p>
                      <a:pPr algn="l">
                        <a:spcBef>
                          <a:spcPts val="0"/>
                        </a:spcBef>
                        <a:spcAft>
                          <a:spcPts val="0"/>
                        </a:spcAft>
                        <a:buNone/>
                      </a:pPr>
                      <a:r>
                        <a:rPr sz="1350" b="0" i="0">
                          <a:solidFill>
                            <a:srgbClr val="0F172A"/>
                          </a:solidFill>
                          <a:latin typeface="Calibri"/>
                        </a:rPr>
                        <a:t>Authenticated SSE; audit-log entries</a:t>
                      </a:r>
                    </a:p>
                  </a:txBody>
                  <a:tcPr anchor="ctr" marT="25400" marB="25400" marL="101600" marR="101600">
                    <a:solidFill>
                      <a:srgbClr val="FFFFFF"/>
                    </a:solidFill>
                  </a:tcPr>
                </a:tc>
              </a:tr>
              <a:tr h="425850">
                <a:tc>
                  <a:txBody>
                    <a:bodyPr wrap="square"/>
                    <a:lstStyle/>
                    <a:p>
                      <a:pPr algn="l">
                        <a:spcBef>
                          <a:spcPts val="0"/>
                        </a:spcBef>
                        <a:spcAft>
                          <a:spcPts val="0"/>
                        </a:spcAft>
                        <a:buNone/>
                      </a:pPr>
                      <a:r>
                        <a:rPr sz="1350" b="1" i="0">
                          <a:solidFill>
                            <a:srgbClr val="0F2A47"/>
                          </a:solidFill>
                          <a:latin typeface="Calibri"/>
                        </a:rPr>
                        <a:t>Role workflows</a:t>
                      </a:r>
                    </a:p>
                  </a:txBody>
                  <a:tcPr anchor="ctr" marT="25400" marB="25400" marL="101600" marR="101600">
                    <a:solidFill>
                      <a:srgbClr val="F1F5F9"/>
                    </a:solidFill>
                  </a:tcPr>
                </a:tc>
                <a:tc>
                  <a:txBody>
                    <a:bodyPr wrap="square"/>
                    <a:lstStyle/>
                    <a:p>
                      <a:pPr algn="l">
                        <a:spcBef>
                          <a:spcPts val="0"/>
                        </a:spcBef>
                        <a:spcAft>
                          <a:spcPts val="0"/>
                        </a:spcAft>
                        <a:buNone/>
                      </a:pPr>
                      <a:r>
                        <a:rPr sz="1350" b="0" i="0">
                          <a:solidFill>
                            <a:srgbClr val="0F172A"/>
                          </a:solidFill>
                          <a:latin typeface="Calibri"/>
                        </a:rPr>
                        <a:t>End-to-end tasks for each of the four roles</a:t>
                      </a:r>
                    </a:p>
                  </a:txBody>
                  <a:tcPr anchor="ctr" marT="25400" marB="25400" marL="101600" marR="101600">
                    <a:solidFill>
                      <a:srgbClr val="F1F5F9"/>
                    </a:solidFill>
                  </a:tcPr>
                </a:tc>
              </a:tr>
            </a:tbl>
          </a:graphicData>
        </a:graphic>
      </p:graphicFrame>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OUTCOME</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Results &amp; Outcomes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A </a:t>
            </a:r>
            <a:r>
              <a:rPr sz="1800" b="1" i="0">
                <a:solidFill>
                  <a:srgbClr val="0F172A"/>
                </a:solidFill>
                <a:latin typeface="Calibri"/>
              </a:rPr>
              <a:t>working, end-to-end web application</a:t>
            </a:r>
            <a:r>
              <a:rPr sz="1800" b="0" i="0">
                <a:solidFill>
                  <a:srgbClr val="0F172A"/>
                </a:solidFill>
                <a:latin typeface="Calibri"/>
              </a:rPr>
              <a:t> with real authentication, role-based access and </a:t>
            </a:r>
            <a:r>
              <a:rPr sz="1800" b="1" i="0">
                <a:solidFill>
                  <a:srgbClr val="0F172A"/>
                </a:solidFill>
                <a:latin typeface="Calibri"/>
              </a:rPr>
              <a:t>database persistence that survives restarts</a:t>
            </a:r>
            <a:r>
              <a:rPr sz="1800" b="0" i="0">
                <a:solidFill>
                  <a:srgbClr val="0F172A"/>
                </a:solidFill>
                <a:latin typeface="Calibri"/>
              </a:rPr>
              <a:t>.</a:t>
            </a:r>
          </a:p>
          <a:p>
            <a:pPr algn="l" indent="-228600" marL="228600">
              <a:spcBef>
                <a:spcPts val="0"/>
              </a:spcBef>
              <a:spcAft>
                <a:spcPts val="1000"/>
              </a:spcAft>
              <a:buFont typeface="Arial"/>
              <a:buChar char="•"/>
            </a:pPr>
            <a:r>
              <a:rPr sz="1800" b="1" i="0">
                <a:solidFill>
                  <a:srgbClr val="0F172A"/>
                </a:solidFill>
                <a:latin typeface="Calibri"/>
              </a:rPr>
              <a:t>Live telemetry</a:t>
            </a:r>
            <a:r>
              <a:rPr sz="1800" b="0" i="0">
                <a:solidFill>
                  <a:srgbClr val="0F172A"/>
                </a:solidFill>
                <a:latin typeface="Calibri"/>
              </a:rPr>
              <a:t> plus API-driven KPIs, reports and alerts across the dashboard.</a:t>
            </a:r>
          </a:p>
          <a:p>
            <a:pPr algn="l" indent="-228600" marL="228600">
              <a:spcBef>
                <a:spcPts val="0"/>
              </a:spcBef>
              <a:spcAft>
                <a:spcPts val="1000"/>
              </a:spcAft>
              <a:buFont typeface="Arial"/>
              <a:buChar char="•"/>
            </a:pPr>
            <a:r>
              <a:rPr sz="1800" b="0" i="0">
                <a:solidFill>
                  <a:srgbClr val="0F172A"/>
                </a:solidFill>
                <a:latin typeface="Calibri"/>
              </a:rPr>
              <a:t>A </a:t>
            </a:r>
            <a:r>
              <a:rPr sz="1800" b="1" i="0">
                <a:solidFill>
                  <a:srgbClr val="0F172A"/>
                </a:solidFill>
                <a:latin typeface="Calibri"/>
              </a:rPr>
              <a:t>canonical, seeded dataset</a:t>
            </a:r>
            <a:r>
              <a:rPr sz="1800" b="0" i="0">
                <a:solidFill>
                  <a:srgbClr val="0F172A"/>
                </a:solidFill>
                <a:latin typeface="Calibri"/>
              </a:rPr>
              <a:t> (machines, production, maintenance, operators) for a consistent, repeatable demonstration.</a:t>
            </a:r>
          </a:p>
          <a:p>
            <a:pPr algn="l" indent="-228600" marL="228600">
              <a:spcBef>
                <a:spcPts val="0"/>
              </a:spcBef>
              <a:spcAft>
                <a:spcPts val="1000"/>
              </a:spcAft>
              <a:buFont typeface="Arial"/>
              <a:buChar char="•"/>
            </a:pPr>
            <a:r>
              <a:rPr sz="1800" b="1" i="0">
                <a:solidFill>
                  <a:srgbClr val="0F172A"/>
                </a:solidFill>
                <a:latin typeface="Calibri"/>
              </a:rPr>
              <a:t>94/94 automated tests passing</a:t>
            </a:r>
            <a:r>
              <a:rPr sz="1800" b="0" i="0">
                <a:solidFill>
                  <a:srgbClr val="0F172A"/>
                </a:solidFill>
                <a:latin typeface="Calibri"/>
              </a:rPr>
              <a:t>, and a complete documentation set - </a:t>
            </a:r>
            <a:r>
              <a:rPr sz="1800" b="1" i="0">
                <a:solidFill>
                  <a:srgbClr val="0F172A"/>
                </a:solidFill>
                <a:latin typeface="Calibri"/>
              </a:rPr>
              <a:t>SRS, project report and role-based user manuals</a:t>
            </a:r>
            <a:r>
              <a:rPr sz="1800" b="0" i="0">
                <a:solidFill>
                  <a:srgbClr val="0F172A"/>
                </a:solidFill>
                <a:latin typeface="Calibri"/>
              </a:rPr>
              <a:t>.</a:t>
            </a:r>
          </a:p>
          <a:p>
            <a:pPr algn="l" indent="-228600" marL="228600">
              <a:spcBef>
                <a:spcPts val="0"/>
              </a:spcBef>
              <a:spcAft>
                <a:spcPts val="1000"/>
              </a:spcAft>
              <a:buFont typeface="Arial"/>
              <a:buChar char="•"/>
            </a:pPr>
            <a:r>
              <a:rPr sz="1800" b="1" i="0">
                <a:solidFill>
                  <a:srgbClr val="0F172A"/>
                </a:solidFill>
                <a:latin typeface="Calibri"/>
              </a:rPr>
              <a:t>Deployment-ready</a:t>
            </a:r>
            <a:r>
              <a:rPr sz="1800" b="0" i="0">
                <a:solidFill>
                  <a:srgbClr val="0F172A"/>
                </a:solidFill>
                <a:latin typeface="Calibri"/>
              </a:rPr>
              <a:t> for free hosting (Render) via gunicorn, with no paid services.</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REFLECTION</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Challenges &amp; Learnings</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1" i="0">
                <a:solidFill>
                  <a:srgbClr val="0F172A"/>
                </a:solidFill>
                <a:latin typeface="Calibri"/>
              </a:rPr>
              <a:t>Simulating real-time data without hardware</a:t>
            </a:r>
            <a:r>
              <a:rPr sz="1800" b="0" i="0">
                <a:solidFill>
                  <a:srgbClr val="0F172A"/>
                </a:solidFill>
                <a:latin typeface="Calibri"/>
              </a:rPr>
              <a:t> - solved cleanly with Server-Sent Events instead of polling or heavyweight sockets.</a:t>
            </a:r>
          </a:p>
          <a:p>
            <a:pPr algn="l" indent="-228600" marL="228600">
              <a:spcBef>
                <a:spcPts val="0"/>
              </a:spcBef>
              <a:spcAft>
                <a:spcPts val="1000"/>
              </a:spcAft>
              <a:buFont typeface="Arial"/>
              <a:buChar char="•"/>
            </a:pPr>
            <a:r>
              <a:rPr sz="1800" b="1" i="0">
                <a:solidFill>
                  <a:srgbClr val="0F172A"/>
                </a:solidFill>
                <a:latin typeface="Calibri"/>
              </a:rPr>
              <a:t>Keeping documentation consistent with code</a:t>
            </a:r>
            <a:r>
              <a:rPr sz="1800" b="0" i="0">
                <a:solidFill>
                  <a:srgbClr val="0F172A"/>
                </a:solidFill>
                <a:latin typeface="Calibri"/>
              </a:rPr>
              <a:t> - a single source of truth (canonical dataset + build scripts) prevented drift.</a:t>
            </a:r>
          </a:p>
          <a:p>
            <a:pPr algn="l" indent="-228600" marL="228600">
              <a:spcBef>
                <a:spcPts val="0"/>
              </a:spcBef>
              <a:spcAft>
                <a:spcPts val="1000"/>
              </a:spcAft>
              <a:buFont typeface="Arial"/>
              <a:buChar char="•"/>
            </a:pPr>
            <a:r>
              <a:rPr sz="1800" b="1" i="0">
                <a:solidFill>
                  <a:srgbClr val="0F172A"/>
                </a:solidFill>
                <a:latin typeface="Calibri"/>
              </a:rPr>
              <a:t>Security details</a:t>
            </a:r>
            <a:r>
              <a:rPr sz="1800" b="0" i="0">
                <a:solidFill>
                  <a:srgbClr val="0F172A"/>
                </a:solidFill>
                <a:latin typeface="Calibri"/>
              </a:rPr>
              <a:t> - e.g. correct JWT subject typing and enforcing role checks on the server, not just the UI.</a:t>
            </a:r>
          </a:p>
          <a:p>
            <a:pPr algn="l" indent="-228600" marL="228600">
              <a:spcBef>
                <a:spcPts val="0"/>
              </a:spcBef>
              <a:spcAft>
                <a:spcPts val="1000"/>
              </a:spcAft>
              <a:buFont typeface="Arial"/>
              <a:buChar char="•"/>
            </a:pPr>
            <a:r>
              <a:rPr sz="1800" b="1" i="0">
                <a:solidFill>
                  <a:srgbClr val="0F172A"/>
                </a:solidFill>
                <a:latin typeface="Calibri"/>
              </a:rPr>
              <a:t>Designing for constraints</a:t>
            </a:r>
            <a:r>
              <a:rPr sz="1800" b="0" i="0">
                <a:solidFill>
                  <a:srgbClr val="0F172A"/>
                </a:solidFill>
                <a:latin typeface="Calibri"/>
              </a:rPr>
              <a:t> - the whole stack had to run on a low-spec laptop and a normal browser, which shaped every technology choice.</a:t>
            </a:r>
          </a:p>
          <a:p>
            <a:pPr algn="l" indent="-228600" marL="228600">
              <a:spcBef>
                <a:spcPts val="0"/>
              </a:spcBef>
              <a:spcAft>
                <a:spcPts val="1000"/>
              </a:spcAft>
              <a:buFont typeface="Arial"/>
              <a:buChar char="•"/>
            </a:pPr>
            <a:r>
              <a:rPr sz="1800" b="0" i="0">
                <a:solidFill>
                  <a:srgbClr val="0F172A"/>
                </a:solidFill>
                <a:latin typeface="Calibri"/>
              </a:rPr>
              <a:t>Gained hands-on experience across </a:t>
            </a:r>
            <a:r>
              <a:rPr sz="1800" b="1" i="0">
                <a:solidFill>
                  <a:srgbClr val="0F172A"/>
                </a:solidFill>
                <a:latin typeface="Calibri"/>
              </a:rPr>
              <a:t>full-stack development, REST APIs, auth, testing and deployment</a:t>
            </a:r>
            <a:r>
              <a:rPr sz="1800" b="0" i="0">
                <a:solidFill>
                  <a:srgbClr val="0F172A"/>
                </a:solidFill>
                <a:latin typeface="Calibri"/>
              </a:rPr>
              <a:t>.</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NEXT</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Future Scope</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Integrate </a:t>
            </a:r>
            <a:r>
              <a:rPr sz="1800" b="1" i="0">
                <a:solidFill>
                  <a:srgbClr val="0F172A"/>
                </a:solidFill>
                <a:latin typeface="Calibri"/>
              </a:rPr>
              <a:t>real plant sensors via PLC / DCS / IoT gateways</a:t>
            </a:r>
            <a:r>
              <a:rPr sz="1800" b="0" i="0">
                <a:solidFill>
                  <a:srgbClr val="0F172A"/>
                </a:solidFill>
                <a:latin typeface="Calibri"/>
              </a:rPr>
              <a:t> to replace the simulated feed.</a:t>
            </a:r>
          </a:p>
          <a:p>
            <a:pPr algn="l" indent="-228600" marL="228600">
              <a:spcBef>
                <a:spcPts val="0"/>
              </a:spcBef>
              <a:spcAft>
                <a:spcPts val="1000"/>
              </a:spcAft>
              <a:buFont typeface="Arial"/>
              <a:buChar char="•"/>
            </a:pPr>
            <a:r>
              <a:rPr sz="1800" b="0" i="0">
                <a:solidFill>
                  <a:srgbClr val="0F172A"/>
                </a:solidFill>
                <a:latin typeface="Calibri"/>
              </a:rPr>
              <a:t>Migrate to </a:t>
            </a:r>
            <a:r>
              <a:rPr sz="1800" b="1" i="0">
                <a:solidFill>
                  <a:srgbClr val="0F172A"/>
                </a:solidFill>
                <a:latin typeface="Calibri"/>
              </a:rPr>
              <a:t>MySQL / PostgreSQL</a:t>
            </a:r>
            <a:r>
              <a:rPr sz="1800" b="0" i="0">
                <a:solidFill>
                  <a:srgbClr val="0F172A"/>
                </a:solidFill>
                <a:latin typeface="Calibri"/>
              </a:rPr>
              <a:t> for multi-user, production-scale deployment.</a:t>
            </a:r>
          </a:p>
          <a:p>
            <a:pPr algn="l" indent="-228600" marL="228600">
              <a:spcBef>
                <a:spcPts val="0"/>
              </a:spcBef>
              <a:spcAft>
                <a:spcPts val="1000"/>
              </a:spcAft>
              <a:buFont typeface="Arial"/>
              <a:buChar char="•"/>
            </a:pPr>
            <a:r>
              <a:rPr sz="1800" b="0" i="0">
                <a:solidFill>
                  <a:srgbClr val="0F172A"/>
                </a:solidFill>
                <a:latin typeface="Calibri"/>
              </a:rPr>
              <a:t>Add </a:t>
            </a:r>
            <a:r>
              <a:rPr sz="1800" b="1" i="0">
                <a:solidFill>
                  <a:srgbClr val="0F172A"/>
                </a:solidFill>
                <a:latin typeface="Calibri"/>
              </a:rPr>
              <a:t>predictive maintenance</a:t>
            </a:r>
            <a:r>
              <a:rPr sz="1800" b="0" i="0">
                <a:solidFill>
                  <a:srgbClr val="0F172A"/>
                </a:solidFill>
                <a:latin typeface="Calibri"/>
              </a:rPr>
              <a:t> using machine-learning on historical machine data.</a:t>
            </a:r>
          </a:p>
          <a:p>
            <a:pPr algn="l" indent="-228600" marL="228600">
              <a:spcBef>
                <a:spcPts val="0"/>
              </a:spcBef>
              <a:spcAft>
                <a:spcPts val="1000"/>
              </a:spcAft>
              <a:buFont typeface="Arial"/>
              <a:buChar char="•"/>
            </a:pPr>
            <a:r>
              <a:rPr sz="1800" b="0" i="0">
                <a:solidFill>
                  <a:srgbClr val="0F172A"/>
                </a:solidFill>
                <a:latin typeface="Calibri"/>
              </a:rPr>
              <a:t>Deliver a </a:t>
            </a:r>
            <a:r>
              <a:rPr sz="1800" b="1" i="0">
                <a:solidFill>
                  <a:srgbClr val="0F172A"/>
                </a:solidFill>
                <a:latin typeface="Calibri"/>
              </a:rPr>
              <a:t>mobile app</a:t>
            </a:r>
            <a:r>
              <a:rPr sz="1800" b="0" i="0">
                <a:solidFill>
                  <a:srgbClr val="0F172A"/>
                </a:solidFill>
                <a:latin typeface="Calibri"/>
              </a:rPr>
              <a:t> and </a:t>
            </a:r>
            <a:r>
              <a:rPr sz="1800" b="1" i="0">
                <a:solidFill>
                  <a:srgbClr val="0F172A"/>
                </a:solidFill>
                <a:latin typeface="Calibri"/>
              </a:rPr>
              <a:t>email / SMS alert</a:t>
            </a:r>
            <a:r>
              <a:rPr sz="1800" b="0" i="0">
                <a:solidFill>
                  <a:srgbClr val="0F172A"/>
                </a:solidFill>
                <a:latin typeface="Calibri"/>
              </a:rPr>
              <a:t> notifications for supervisors on the move.</a:t>
            </a:r>
          </a:p>
          <a:p>
            <a:pPr algn="l" indent="-228600" marL="228600">
              <a:spcBef>
                <a:spcPts val="0"/>
              </a:spcBef>
              <a:spcAft>
                <a:spcPts val="1000"/>
              </a:spcAft>
              <a:buFont typeface="Arial"/>
              <a:buChar char="•"/>
            </a:pPr>
            <a:r>
              <a:rPr sz="1800" b="0" i="0">
                <a:solidFill>
                  <a:srgbClr val="0F172A"/>
                </a:solidFill>
                <a:latin typeface="Calibri"/>
              </a:rPr>
              <a:t>Extend to </a:t>
            </a:r>
            <a:r>
              <a:rPr sz="1800" b="1" i="0">
                <a:solidFill>
                  <a:srgbClr val="0F172A"/>
                </a:solidFill>
                <a:latin typeface="Calibri"/>
              </a:rPr>
              <a:t>multi-plant / multi-line</a:t>
            </a:r>
            <a:r>
              <a:rPr sz="1800" b="0" i="0">
                <a:solidFill>
                  <a:srgbClr val="0F172A"/>
                </a:solidFill>
                <a:latin typeface="Calibri"/>
              </a:rPr>
              <a:t> monitoring with consolidated group dashboards.</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310896"/>
          </a:xfrm>
          <a:prstGeom prst="rect">
            <a:avLst/>
          </a:prstGeom>
          <a:noFill/>
        </p:spPr>
        <p:txBody>
          <a:bodyPr wrap="square" anchor="t" lIns="0" rIns="0" tIns="0" bIns="0">
            <a:spAutoFit/>
          </a:bodyPr>
          <a:lstStyle/>
          <a:p>
            <a:pPr algn="l">
              <a:spcBef>
                <a:spcPts val="0"/>
              </a:spcBef>
              <a:spcAft>
                <a:spcPts val="0"/>
              </a:spcAft>
              <a:buNone/>
            </a:pPr>
            <a:r>
              <a:rPr sz="1250" b="1" i="0">
                <a:solidFill>
                  <a:srgbClr val="2563EB"/>
                </a:solidFill>
                <a:latin typeface="Calibri"/>
              </a:rPr>
              <a:t>SUMMARY</a:t>
            </a:r>
          </a:p>
        </p:txBody>
      </p:sp>
      <p:sp>
        <p:nvSpPr>
          <p:cNvPr id="4" name="TextBox 3"/>
          <p:cNvSpPr txBox="1"/>
          <p:nvPr/>
        </p:nvSpPr>
        <p:spPr>
          <a:xfrm>
            <a:off x="640080" y="713232"/>
            <a:ext cx="11155680" cy="868680"/>
          </a:xfrm>
          <a:prstGeom prst="rect">
            <a:avLst/>
          </a:prstGeom>
          <a:noFill/>
        </p:spPr>
        <p:txBody>
          <a:bodyPr wrap="square" anchor="t" lIns="0" rIns="0" tIns="0" bIns="0">
            <a:spAutoFit/>
          </a:bodyPr>
          <a:lstStyle/>
          <a:p>
            <a:pPr algn="l">
              <a:spcBef>
                <a:spcPts val="0"/>
              </a:spcBef>
              <a:spcAft>
                <a:spcPts val="0"/>
              </a:spcAft>
              <a:buNone/>
            </a:pPr>
            <a:r>
              <a:rPr sz="3000" b="1" i="0">
                <a:solidFill>
                  <a:srgbClr val="0F2A47"/>
                </a:solidFill>
                <a:latin typeface="Calibri"/>
              </a:rPr>
              <a:t>Conclusion</a:t>
            </a:r>
          </a:p>
        </p:txBody>
      </p:sp>
      <p:sp>
        <p:nvSpPr>
          <p:cNvPr id="5" name="Rectangle 4"/>
          <p:cNvSpPr/>
          <p:nvPr/>
        </p:nvSpPr>
        <p:spPr>
          <a:xfrm>
            <a:off x="658368" y="1572768"/>
            <a:ext cx="137160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389120"/>
          </a:xfrm>
          <a:prstGeom prst="rect">
            <a:avLst/>
          </a:prstGeom>
          <a:noFill/>
        </p:spPr>
        <p:txBody>
          <a:bodyPr wrap="square" anchor="t" lIns="0" rIns="0" tIns="0" bIns="0">
            <a:spAutoFit/>
          </a:bodyPr>
          <a:lstStyle/>
          <a:p>
            <a:pPr algn="l" indent="-228600" marL="228600">
              <a:spcBef>
                <a:spcPts val="0"/>
              </a:spcBef>
              <a:spcAft>
                <a:spcPts val="1000"/>
              </a:spcAft>
              <a:buFont typeface="Arial"/>
              <a:buChar char="•"/>
            </a:pPr>
            <a:r>
              <a:rPr sz="1800" b="0" i="0">
                <a:solidFill>
                  <a:srgbClr val="0F172A"/>
                </a:solidFill>
                <a:latin typeface="Calibri"/>
              </a:rPr>
              <a:t>The project delivers a </a:t>
            </a:r>
            <a:r>
              <a:rPr sz="1800" b="1" i="0">
                <a:solidFill>
                  <a:srgbClr val="0F172A"/>
                </a:solidFill>
                <a:latin typeface="Calibri"/>
              </a:rPr>
              <a:t>secure, real-time, role-based monitoring dashboard</a:t>
            </a:r>
            <a:r>
              <a:rPr sz="1800" b="0" i="0">
                <a:solidFill>
                  <a:srgbClr val="0F172A"/>
                </a:solidFill>
                <a:latin typeface="Calibri"/>
              </a:rPr>
              <a:t> that turns manual, scattered records into a </a:t>
            </a:r>
            <a:r>
              <a:rPr sz="1800" b="1" i="0">
                <a:solidFill>
                  <a:srgbClr val="0F172A"/>
                </a:solidFill>
                <a:latin typeface="Calibri"/>
              </a:rPr>
              <a:t>single live view</a:t>
            </a:r>
            <a:r>
              <a:rPr sz="1800" b="0" i="0">
                <a:solidFill>
                  <a:srgbClr val="0F172A"/>
                </a:solidFill>
                <a:latin typeface="Calibri"/>
              </a:rPr>
              <a:t> of the plant.</a:t>
            </a:r>
          </a:p>
          <a:p>
            <a:pPr algn="l" indent="-228600" marL="228600">
              <a:spcBef>
                <a:spcPts val="0"/>
              </a:spcBef>
              <a:spcAft>
                <a:spcPts val="1000"/>
              </a:spcAft>
              <a:buFont typeface="Arial"/>
              <a:buChar char="•"/>
            </a:pPr>
            <a:r>
              <a:rPr sz="1800" b="0" i="0">
                <a:solidFill>
                  <a:srgbClr val="0F172A"/>
                </a:solidFill>
                <a:latin typeface="Calibri"/>
              </a:rPr>
              <a:t>It demonstrates a </a:t>
            </a:r>
            <a:r>
              <a:rPr sz="1800" b="1" i="0">
                <a:solidFill>
                  <a:srgbClr val="0F172A"/>
                </a:solidFill>
                <a:latin typeface="Calibri"/>
              </a:rPr>
              <a:t>complete, tested and documented full-stack system</a:t>
            </a:r>
            <a:r>
              <a:rPr sz="1800" b="0" i="0">
                <a:solidFill>
                  <a:srgbClr val="0F172A"/>
                </a:solidFill>
                <a:latin typeface="Calibri"/>
              </a:rPr>
              <a:t> built entirely with free, open-source tools.</a:t>
            </a:r>
          </a:p>
          <a:p>
            <a:pPr algn="l" indent="-228600" marL="228600">
              <a:spcBef>
                <a:spcPts val="0"/>
              </a:spcBef>
              <a:spcAft>
                <a:spcPts val="1000"/>
              </a:spcAft>
              <a:buFont typeface="Arial"/>
              <a:buChar char="•"/>
            </a:pPr>
            <a:r>
              <a:rPr sz="1800" b="0" i="0">
                <a:solidFill>
                  <a:srgbClr val="0F172A"/>
                </a:solidFill>
                <a:latin typeface="Calibri"/>
              </a:rPr>
              <a:t>It directly addresses the industry need for </a:t>
            </a:r>
            <a:r>
              <a:rPr sz="1800" b="1" i="0">
                <a:solidFill>
                  <a:srgbClr val="0F172A"/>
                </a:solidFill>
                <a:latin typeface="Calibri"/>
              </a:rPr>
              <a:t>timely production, quality and machine-health visibility</a:t>
            </a:r>
            <a:r>
              <a:rPr sz="1800" b="0" i="0">
                <a:solidFill>
                  <a:srgbClr val="0F172A"/>
                </a:solidFill>
                <a:latin typeface="Calibri"/>
              </a:rPr>
              <a:t> - and provides a clear path to a sensor-connected production system.</a:t>
            </a:r>
          </a:p>
        </p:txBody>
      </p:sp>
      <p:sp>
        <p:nvSpPr>
          <p:cNvPr id="7" name="TextBox 6"/>
          <p:cNvSpPr txBox="1"/>
          <p:nvPr/>
        </p:nvSpPr>
        <p:spPr>
          <a:xfrm>
            <a:off x="640080" y="6455664"/>
            <a:ext cx="8229600" cy="292608"/>
          </a:xfrm>
          <a:prstGeom prst="rect">
            <a:avLst/>
          </a:prstGeom>
          <a:noFill/>
        </p:spPr>
        <p:txBody>
          <a:bodyPr wrap="square" anchor="t" lIns="0" rIns="0" tIns="0" bIns="0">
            <a:spAutoFit/>
          </a:bodyPr>
          <a:lstStyle/>
          <a:p>
            <a:pPr algn="l">
              <a:spcBef>
                <a:spcPts val="0"/>
              </a:spcBef>
              <a:spcAft>
                <a:spcPts val="0"/>
              </a:spcAft>
              <a:buNone/>
            </a:pPr>
            <a:r>
              <a:rPr sz="900" b="0" i="0">
                <a:solidFill>
                  <a:srgbClr val="64748B"/>
                </a:solidFill>
                <a:latin typeface="Calibri"/>
              </a:rPr>
              <a:t>Smart Paper Mill Production Monitoring Dashboard  -  Satia Industries Ltd.</a:t>
            </a:r>
          </a:p>
        </p:txBody>
      </p:sp>
      <p:sp>
        <p:nvSpPr>
          <p:cNvPr id="8" name="TextBox 7"/>
          <p:cNvSpPr txBox="1"/>
          <p:nvPr/>
        </p:nvSpPr>
        <p:spPr>
          <a:xfrm>
            <a:off x="10972800" y="6455664"/>
            <a:ext cx="914400" cy="292608"/>
          </a:xfrm>
          <a:prstGeom prst="rect">
            <a:avLst/>
          </a:prstGeom>
          <a:noFill/>
        </p:spPr>
        <p:txBody>
          <a:bodyPr wrap="square" anchor="t" lIns="0" rIns="0" tIns="0" bIns="0">
            <a:spAutoFit/>
          </a:bodyPr>
          <a:lstStyle/>
          <a:p>
            <a:pPr algn="r">
              <a:spcBef>
                <a:spcPts val="0"/>
              </a:spcBef>
              <a:spcAft>
                <a:spcPts val="0"/>
              </a:spcAft>
              <a:buNone/>
            </a:pPr>
            <a:r>
              <a:rPr sz="900" b="0" i="0">
                <a:solidFill>
                  <a:srgbClr val="64748B"/>
                </a:solidFill>
                <a:latin typeface="Calibr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1828800"/>
          </a:xfrm>
          <a:prstGeom prst="rect">
            <a:avLst/>
          </a:prstGeom>
          <a:noFill/>
        </p:spPr>
        <p:txBody>
          <a:bodyPr wrap="square" anchor="ctr" lIns="0" rIns="0" tIns="0" bIns="0">
            <a:spAutoFit/>
          </a:bodyPr>
          <a:lstStyle/>
          <a:p>
            <a:pPr algn="l">
              <a:spcBef>
                <a:spcPts val="0"/>
              </a:spcBef>
              <a:spcAft>
                <a:spcPts val="600"/>
              </a:spcAft>
              <a:buNone/>
            </a:pPr>
            <a:r>
              <a:rPr sz="5400" b="1" i="0">
                <a:solidFill>
                  <a:srgbClr val="FFFFFF"/>
                </a:solidFill>
                <a:latin typeface="Calibri"/>
              </a:rPr>
              <a:t>Thank You</a:t>
            </a:r>
          </a:p>
          <a:p>
            <a:pPr algn="l">
              <a:spcBef>
                <a:spcPts val="0"/>
              </a:spcBef>
              <a:spcAft>
                <a:spcPts val="0"/>
              </a:spcAft>
              <a:buNone/>
            </a:pPr>
            <a:r>
              <a:rPr sz="2200" b="0" i="0">
                <a:solidFill>
                  <a:srgbClr val="38BDF8"/>
                </a:solidFill>
                <a:latin typeface="Calibri"/>
              </a:rPr>
              <a:t>Questions &amp; Discussion</a:t>
            </a:r>
          </a:p>
        </p:txBody>
      </p:sp>
      <p:sp>
        <p:nvSpPr>
          <p:cNvPr id="5" name="TextBox 4"/>
          <p:cNvSpPr txBox="1"/>
          <p:nvPr/>
        </p:nvSpPr>
        <p:spPr>
          <a:xfrm>
            <a:off x="868680" y="5029200"/>
            <a:ext cx="10424160" cy="914400"/>
          </a:xfrm>
          <a:prstGeom prst="rect">
            <a:avLst/>
          </a:prstGeom>
          <a:noFill/>
        </p:spPr>
        <p:txBody>
          <a:bodyPr wrap="square" anchor="t" lIns="0" rIns="0" tIns="0" bIns="0">
            <a:spAutoFit/>
          </a:bodyPr>
          <a:lstStyle/>
          <a:p>
            <a:pPr algn="l">
              <a:spcBef>
                <a:spcPts val="0"/>
              </a:spcBef>
              <a:spcAft>
                <a:spcPts val="200"/>
              </a:spcAft>
              <a:buNone/>
            </a:pPr>
            <a:r>
              <a:rPr sz="1500" b="0" i="0">
                <a:solidFill>
                  <a:srgbClr val="CBD5E1"/>
                </a:solidFill>
                <a:latin typeface="Calibri"/>
              </a:rPr>
              <a:t>[STUDENT NAME]  -  B.E. CSE, Chandigarh University</a:t>
            </a:r>
          </a:p>
          <a:p>
            <a:pPr algn="l">
              <a:spcBef>
                <a:spcPts val="0"/>
              </a:spcBef>
              <a:spcAft>
                <a:spcPts val="0"/>
              </a:spcAft>
              <a:buNone/>
            </a:pPr>
            <a:r>
              <a:rPr sz="1300" b="0" i="0">
                <a:solidFill>
                  <a:srgbClr val="9FB3C8"/>
                </a:solidFill>
                <a:latin typeface="Calibri"/>
              </a:rPr>
              <a:t>Industrial Training Project  -  Satia Industries Limited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